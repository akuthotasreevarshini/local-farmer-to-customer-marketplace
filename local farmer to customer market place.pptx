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65" r:id="rId2"/>
    <p:sldId id="257" r:id="rId3"/>
    <p:sldId id="258" r:id="rId4"/>
    <p:sldId id="259" r:id="rId5"/>
    <p:sldId id="260" r:id="rId6"/>
    <p:sldId id="261" r:id="rId7"/>
    <p:sldId id="262" r:id="rId8"/>
    <p:sldId id="268" r:id="rId9"/>
    <p:sldId id="269" r:id="rId10"/>
    <p:sldId id="266" r:id="rId1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510" autoAdjust="0"/>
    <p:restoredTop sz="94610"/>
  </p:normalViewPr>
  <p:slideViewPr>
    <p:cSldViewPr snapToGrid="0" snapToObjects="1">
      <p:cViewPr varScale="1">
        <p:scale>
          <a:sx n="109" d="100"/>
          <a:sy n="109" d="100"/>
        </p:scale>
        <p:origin x="667"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317803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real problems: middlemen reduce farmer income, customers lack price transparency, and many farmers struggle with digital tools. Then mention the technical challenges we had to solve while building.</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makes us different: it is not a generic e-commerce site. The photo and Telugu voice flow lowers the barrier for farmers, and the comparison page shows customers the true total cost. Every voice action is confirmed by the farmer before it is saved.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input (photo, voice or form) goes to the Express API, which validates and saves to MongoDB. The comparison algorithm normalizes units, adds delivery charges and ranks farmers. Output is a ranked list, then an order with a status timeline. Journey: farmer lists, customer compares, checkout, farmer accepts, customer tracks.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Frontend React with Vite and Tailwind; backend Node and Express with JWT auth; MongoDB for data. Services: browser Web Speech API for voice, Leaflet with OpenStreetMap for maps, Cloudinary for images. Algorithms are simple on purpose: unit conversion is constant time, ranking is a sort, voice maps to a fixed list of actions, and stock is decremented atomically so two buyers cannot take the same item.</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table is illustrative demo data. Note that the lowest price per kg (Farmer B) is not the cheapest total once delivery is added - Farmer C wins at Rs 56. Replace the two dashed boxes with real screenshots from your running app, and mention any measured results from your demo (for example listing time or page load) only if you have measured them.</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Current achievement: a working multi-role marketplace with Telugu/English, photo and voice listing, and real price comparison. Future: real delivery tracking, more languages, offline-ready PWA, live market prices. Scalability: stateless API behind a load balancer, managed MongoDB with indexes, CDN for images. End with the takeaway and invite questions.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rtlCol="0"/>
          <a:lstStyle>
            <a:lvl1pPr marL="0" indent="0">
              <a:buNone/>
              <a:defRPr lang="en-US" sz="3400" b="1" dirty="0">
                <a:solidFill>
                  <a:schemeClr val="tx2"/>
                </a:solidFill>
              </a:defRPr>
            </a:lvl1pPr>
          </a:lstStyle>
          <a:p>
            <a:pPr marL="0" indent="0">
              <a:buNone/>
            </a:pPr>
            <a:endParaRPr lang="en-US" sz="3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1"/>
                </a:solidFill>
              </a:defRPr>
            </a:lvl1pPr>
          </a:lstStyle>
          <a:p>
            <a:pPr algn="l"/>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F4D2B"/>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rtlCol="0"/>
          <a:lstStyle>
            <a:lvl1pPr marL="0" indent="0">
              <a:buNone/>
              <a:defRPr lang="en-US" sz="3400" b="1" dirty="0">
                <a:solidFill>
                  <a:schemeClr val="bg1"/>
                </a:solidFill>
              </a:defRPr>
            </a:lvl1pPr>
          </a:lstStyle>
          <a:p>
            <a:pPr marL="0" indent="0">
              <a:buNone/>
            </a:pPr>
            <a:endParaRPr lang="en-US" sz="3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bg1"/>
                </a:solidFill>
              </a:defRPr>
            </a:lvl1pPr>
          </a:lstStyle>
          <a:p>
            <a:pPr algn="l"/>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p:bg>
      <p:bgPr>
        <a:solidFill>
          <a:srgbClr val="1F4D2B"/>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143000"/>
            <a:ext cx="4572000" cy="822960"/>
          </a:xfrm>
          <a:prstGeom prst="rect">
            <a:avLst/>
          </a:prstGeom>
          <a:noFill/>
          <a:ln/>
        </p:spPr>
        <p:txBody>
          <a:bodyPr wrap="square" rtlCol="0"/>
          <a:lstStyle>
            <a:lvl1pPr marL="0" indent="0">
              <a:buNone/>
              <a:defRPr lang="en-US" sz="4800" b="1" dirty="0">
                <a:solidFill>
                  <a:schemeClr val="bg1"/>
                </a:solidFill>
              </a:defRPr>
            </a:lvl1pPr>
          </a:lstStyle>
          <a:p>
            <a:pPr marL="0" indent="0">
              <a:buNone/>
            </a:pPr>
            <a:endParaRPr lang="en-US" sz="48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1"/>
                </a:solidFill>
              </a:defRPr>
            </a:lvl1pPr>
          </a:lstStyle>
          <a:p>
            <a:pPr algn="l"/>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3.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slideLayout" Target="../slideLayouts/slideLayout1.xml"/><Relationship Id="rId5" Type="http://schemas.openxmlformats.org/officeDocument/2006/relationships/image" Target="../media/image14.jpeg"/><Relationship Id="rId4" Type="http://schemas.openxmlformats.org/officeDocument/2006/relationships/image" Target="../media/image13.jpeg"/></Relationships>
</file>

<file path=ppt/slides/_rels/slide9.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jpe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06AC879-430F-809C-5E4A-FE7666E2BEDF}"/>
              </a:ext>
            </a:extLst>
          </p:cNvPr>
          <p:cNvPicPr>
            <a:picLocks noChangeAspect="1"/>
          </p:cNvPicPr>
          <p:nvPr/>
        </p:nvPicPr>
        <p:blipFill>
          <a:blip r:embed="rId2"/>
          <a:stretch>
            <a:fillRect/>
          </a:stretch>
        </p:blipFill>
        <p:spPr>
          <a:xfrm>
            <a:off x="50688" y="0"/>
            <a:ext cx="8868229" cy="1061177"/>
          </a:xfrm>
          <a:prstGeom prst="rect">
            <a:avLst/>
          </a:prstGeom>
        </p:spPr>
      </p:pic>
      <p:sp>
        <p:nvSpPr>
          <p:cNvPr id="5" name="TextBox 4">
            <a:extLst>
              <a:ext uri="{FF2B5EF4-FFF2-40B4-BE49-F238E27FC236}">
                <a16:creationId xmlns:a16="http://schemas.microsoft.com/office/drawing/2014/main" id="{865922AE-396C-3B93-BFF7-48A9795E30DE}"/>
              </a:ext>
            </a:extLst>
          </p:cNvPr>
          <p:cNvSpPr txBox="1"/>
          <p:nvPr/>
        </p:nvSpPr>
        <p:spPr>
          <a:xfrm>
            <a:off x="685522" y="1126489"/>
            <a:ext cx="6102139" cy="1077218"/>
          </a:xfrm>
          <a:prstGeom prst="rect">
            <a:avLst/>
          </a:prstGeom>
          <a:noFill/>
        </p:spPr>
        <p:txBody>
          <a:bodyPr wrap="square" rtlCol="0">
            <a:spAutoFit/>
          </a:bodyPr>
          <a:lstStyle/>
          <a:p>
            <a:r>
              <a:rPr lang="en-US" sz="2800" b="1" dirty="0">
                <a:solidFill>
                  <a:schemeClr val="tx2"/>
                </a:solidFill>
              </a:rPr>
              <a:t>PROJECT INTRODUCTION</a:t>
            </a:r>
            <a:endParaRPr lang="en-IN" sz="2800" dirty="0">
              <a:latin typeface="Cambria heading"/>
            </a:endParaRPr>
          </a:p>
          <a:p>
            <a:r>
              <a:rPr lang="en-US" dirty="0">
                <a:solidFill>
                  <a:schemeClr val="bg1"/>
                </a:solidFill>
                <a:latin typeface="Arial Rounded MT Bold" panose="020F0704030504030204" pitchFamily="34" charset="0"/>
              </a:rPr>
              <a:t>1.PROJECT INTRODUCTION</a:t>
            </a:r>
            <a:endParaRPr lang="en-IN" dirty="0">
              <a:solidFill>
                <a:schemeClr val="bg1"/>
              </a:solidFill>
              <a:latin typeface="Arial Rounded MT Bold" panose="020F0704030504030204" pitchFamily="34" charset="0"/>
            </a:endParaRPr>
          </a:p>
          <a:p>
            <a:endParaRPr lang="en-IN" dirty="0"/>
          </a:p>
        </p:txBody>
      </p:sp>
      <p:sp>
        <p:nvSpPr>
          <p:cNvPr id="6" name="TextBox 5">
            <a:extLst>
              <a:ext uri="{FF2B5EF4-FFF2-40B4-BE49-F238E27FC236}">
                <a16:creationId xmlns:a16="http://schemas.microsoft.com/office/drawing/2014/main" id="{1CD59A26-0916-24B6-DDF7-EB3983F12381}"/>
              </a:ext>
            </a:extLst>
          </p:cNvPr>
          <p:cNvSpPr txBox="1"/>
          <p:nvPr/>
        </p:nvSpPr>
        <p:spPr>
          <a:xfrm>
            <a:off x="685522" y="1689559"/>
            <a:ext cx="8233395" cy="3693319"/>
          </a:xfrm>
          <a:prstGeom prst="rect">
            <a:avLst/>
          </a:prstGeom>
          <a:noFill/>
        </p:spPr>
        <p:txBody>
          <a:bodyPr wrap="square" rtlCol="0">
            <a:spAutoFit/>
          </a:bodyPr>
          <a:lstStyle/>
          <a:p>
            <a:r>
              <a:rPr lang="en-US" b="1" dirty="0">
                <a:solidFill>
                  <a:schemeClr val="tx2"/>
                </a:solidFill>
              </a:rPr>
              <a:t>PROJECT TITLE</a:t>
            </a:r>
            <a:r>
              <a:rPr lang="en-US" b="1" dirty="0"/>
              <a:t> :</a:t>
            </a:r>
            <a:r>
              <a:rPr lang="en-US" dirty="0"/>
              <a:t>    Local Farmer-to-Customer Marketplace</a:t>
            </a:r>
          </a:p>
          <a:p>
            <a:endParaRPr lang="en-US" dirty="0"/>
          </a:p>
          <a:p>
            <a:r>
              <a:rPr lang="en-US" b="1" dirty="0">
                <a:solidFill>
                  <a:schemeClr val="tx2"/>
                </a:solidFill>
                <a:latin typeface="Cambria heading"/>
              </a:rPr>
              <a:t>ONE LINE IDEA :</a:t>
            </a:r>
            <a:r>
              <a:rPr lang="en-US" dirty="0"/>
              <a:t>   A Telugu and English marketplace where farmers</a:t>
            </a:r>
          </a:p>
          <a:p>
            <a:r>
              <a:rPr lang="en-US" dirty="0"/>
              <a:t>                               sell with a photo and their voice, and customers</a:t>
            </a:r>
          </a:p>
          <a:p>
            <a:r>
              <a:rPr lang="en-US" dirty="0"/>
              <a:t>                               compare the true total cost across farmers.</a:t>
            </a:r>
          </a:p>
          <a:p>
            <a:endParaRPr lang="en-US" dirty="0"/>
          </a:p>
          <a:p>
            <a:r>
              <a:rPr lang="en-US" b="1" dirty="0">
                <a:solidFill>
                  <a:schemeClr val="tx2"/>
                </a:solidFill>
                <a:latin typeface="Cambria heading"/>
              </a:rPr>
              <a:t>TEAM MEMBERS</a:t>
            </a:r>
            <a:r>
              <a:rPr lang="en-IN" b="1" dirty="0">
                <a:solidFill>
                  <a:schemeClr val="tx2"/>
                </a:solidFill>
                <a:latin typeface="Cambria heading"/>
              </a:rPr>
              <a:t> :</a:t>
            </a:r>
            <a:r>
              <a:rPr lang="en-IN" dirty="0"/>
              <a:t> </a:t>
            </a:r>
            <a:r>
              <a:rPr lang="en-US" dirty="0"/>
              <a:t>25MVCSMR0003- A . Sreevarshini</a:t>
            </a:r>
          </a:p>
          <a:p>
            <a:r>
              <a:rPr lang="en-US" dirty="0"/>
              <a:t>                                 25MVCSMR0017- C . Srivalli</a:t>
            </a:r>
          </a:p>
          <a:p>
            <a:r>
              <a:rPr lang="en-US" dirty="0"/>
              <a:t>                                 25MVCSMR0020- CH . Pravalika</a:t>
            </a:r>
          </a:p>
          <a:p>
            <a:r>
              <a:rPr lang="en-US" dirty="0"/>
              <a:t>                                 25MVCSMR0031- D . Yashwanth</a:t>
            </a:r>
          </a:p>
          <a:p>
            <a:endParaRPr lang="en-US" dirty="0"/>
          </a:p>
          <a:p>
            <a:r>
              <a:rPr lang="en-US" b="1" dirty="0">
                <a:solidFill>
                  <a:schemeClr val="tx2"/>
                </a:solidFill>
              </a:rPr>
              <a:t>PROJECT DOMAIN :</a:t>
            </a:r>
            <a:r>
              <a:rPr lang="en-US" dirty="0"/>
              <a:t> </a:t>
            </a:r>
            <a:r>
              <a:rPr lang="en-US" dirty="0" err="1"/>
              <a:t>AgriTech</a:t>
            </a:r>
            <a:r>
              <a:rPr lang="en-US" dirty="0"/>
              <a:t> , inclusive ecommerce, rural digital access</a:t>
            </a:r>
            <a:endParaRPr lang="en-IN" dirty="0"/>
          </a:p>
          <a:p>
            <a:endParaRPr lang="en-IN" dirty="0"/>
          </a:p>
        </p:txBody>
      </p:sp>
    </p:spTree>
    <p:extLst>
      <p:ext uri="{BB962C8B-B14F-4D97-AF65-F5344CB8AC3E}">
        <p14:creationId xmlns:p14="http://schemas.microsoft.com/office/powerpoint/2010/main" val="12672142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400" b="1" dirty="0">
                <a:solidFill>
                  <a:schemeClr val="tx2"/>
                </a:solidFill>
              </a:rPr>
              <a:t>The Challenge</a:t>
            </a:r>
            <a:endParaRPr lang="en-US" sz="3400" dirty="0"/>
          </a:p>
        </p:txBody>
      </p:sp>
      <p:sp>
        <p:nvSpPr>
          <p:cNvPr id="3" name="Farmers lose income circle"/>
          <p:cNvSpPr/>
          <p:nvPr/>
        </p:nvSpPr>
        <p:spPr>
          <a:xfrm>
            <a:off x="457200" y="1280160"/>
            <a:ext cx="640080" cy="640080"/>
          </a:xfrm>
          <a:prstGeom prst="ellipse">
            <a:avLst/>
          </a:prstGeom>
          <a:solidFill>
            <a:schemeClr val="tx2"/>
          </a:solidFill>
          <a:ln w="12700">
            <a:solidFill>
              <a:schemeClr val="tx2"/>
            </a:solidFill>
            <a:prstDash val="solid"/>
          </a:ln>
        </p:spPr>
      </p:sp>
      <p:pic>
        <p:nvPicPr>
          <p:cNvPr id="4" name="Farmers lose income icon" descr="Farmers lose income"/>
          <p:cNvPicPr>
            <a:picLocks noChangeAspect="1"/>
          </p:cNvPicPr>
          <p:nvPr/>
        </p:nvPicPr>
        <p:blipFill>
          <a:blip r:embed="rId3"/>
          <a:stretch>
            <a:fillRect/>
          </a:stretch>
        </p:blipFill>
        <p:spPr>
          <a:xfrm>
            <a:off x="610819" y="1433779"/>
            <a:ext cx="332842" cy="332842"/>
          </a:xfrm>
          <a:prstGeom prst="rect">
            <a:avLst/>
          </a:prstGeom>
        </p:spPr>
      </p:pic>
      <p:sp>
        <p:nvSpPr>
          <p:cNvPr id="5" name="Farmers lose income title"/>
          <p:cNvSpPr txBox="1"/>
          <p:nvPr/>
        </p:nvSpPr>
        <p:spPr>
          <a:xfrm>
            <a:off x="1280160" y="1188720"/>
            <a:ext cx="3840480" cy="320040"/>
          </a:xfrm>
          <a:prstGeom prst="rect">
            <a:avLst/>
          </a:prstGeom>
          <a:noFill/>
          <a:ln/>
        </p:spPr>
        <p:txBody>
          <a:bodyPr wrap="square" lIns="0" tIns="0" rIns="0" bIns="0" rtlCol="0" anchor="t"/>
          <a:lstStyle/>
          <a:p>
            <a:pPr marL="0" indent="0">
              <a:buNone/>
            </a:pPr>
            <a:r>
              <a:rPr lang="en-US" sz="1800" b="1" dirty="0">
                <a:solidFill>
                  <a:schemeClr val="tx2"/>
                </a:solidFill>
              </a:rPr>
              <a:t>Farmers lose income</a:t>
            </a:r>
            <a:endParaRPr lang="en-US" sz="1800" dirty="0"/>
          </a:p>
        </p:txBody>
      </p:sp>
      <p:sp>
        <p:nvSpPr>
          <p:cNvPr id="6" name="Farmers lose income text"/>
          <p:cNvSpPr txBox="1"/>
          <p:nvPr/>
        </p:nvSpPr>
        <p:spPr>
          <a:xfrm>
            <a:off x="1280160" y="1536192"/>
            <a:ext cx="3840480" cy="548640"/>
          </a:xfrm>
          <a:prstGeom prst="rect">
            <a:avLst/>
          </a:prstGeom>
          <a:noFill/>
          <a:ln/>
        </p:spPr>
        <p:txBody>
          <a:bodyPr wrap="square" lIns="0" tIns="0" rIns="0" bIns="0" rtlCol="0" anchor="t"/>
          <a:lstStyle/>
          <a:p>
            <a:pPr marL="0" indent="0">
              <a:buNone/>
            </a:pPr>
            <a:r>
              <a:rPr lang="en-US" sz="1400" dirty="0">
                <a:solidFill>
                  <a:schemeClr val="tx1"/>
                </a:solidFill>
              </a:rPr>
              <a:t>Middlemen take a large share of the final price.</a:t>
            </a:r>
            <a:endParaRPr lang="en-US" sz="1400" dirty="0"/>
          </a:p>
        </p:txBody>
      </p:sp>
      <p:sp>
        <p:nvSpPr>
          <p:cNvPr id="7" name="Customers can't compare circle"/>
          <p:cNvSpPr/>
          <p:nvPr/>
        </p:nvSpPr>
        <p:spPr>
          <a:xfrm>
            <a:off x="457200" y="2286000"/>
            <a:ext cx="640080" cy="640080"/>
          </a:xfrm>
          <a:prstGeom prst="ellipse">
            <a:avLst/>
          </a:prstGeom>
          <a:solidFill>
            <a:schemeClr val="tx2"/>
          </a:solidFill>
          <a:ln w="12700">
            <a:solidFill>
              <a:schemeClr val="tx2"/>
            </a:solidFill>
            <a:prstDash val="solid"/>
          </a:ln>
        </p:spPr>
      </p:sp>
      <p:pic>
        <p:nvPicPr>
          <p:cNvPr id="8" name="Customers can't compare icon" descr="Customers can't compare"/>
          <p:cNvPicPr>
            <a:picLocks noChangeAspect="1"/>
          </p:cNvPicPr>
          <p:nvPr/>
        </p:nvPicPr>
        <p:blipFill>
          <a:blip r:embed="rId4"/>
          <a:stretch>
            <a:fillRect/>
          </a:stretch>
        </p:blipFill>
        <p:spPr>
          <a:xfrm>
            <a:off x="610819" y="2439619"/>
            <a:ext cx="332842" cy="332842"/>
          </a:xfrm>
          <a:prstGeom prst="rect">
            <a:avLst/>
          </a:prstGeom>
        </p:spPr>
      </p:pic>
      <p:sp>
        <p:nvSpPr>
          <p:cNvPr id="9" name="Customers can&amp;apos;t compare title"/>
          <p:cNvSpPr txBox="1"/>
          <p:nvPr/>
        </p:nvSpPr>
        <p:spPr>
          <a:xfrm>
            <a:off x="1280160" y="2194560"/>
            <a:ext cx="3840480" cy="320040"/>
          </a:xfrm>
          <a:prstGeom prst="rect">
            <a:avLst/>
          </a:prstGeom>
          <a:noFill/>
          <a:ln/>
        </p:spPr>
        <p:txBody>
          <a:bodyPr wrap="square" lIns="0" tIns="0" rIns="0" bIns="0" rtlCol="0" anchor="t"/>
          <a:lstStyle/>
          <a:p>
            <a:pPr marL="0" indent="0">
              <a:buNone/>
            </a:pPr>
            <a:r>
              <a:rPr lang="en-US" sz="1800" b="1" dirty="0">
                <a:solidFill>
                  <a:schemeClr val="tx2"/>
                </a:solidFill>
              </a:rPr>
              <a:t>Customers can't compare</a:t>
            </a:r>
            <a:endParaRPr lang="en-US" sz="1800" dirty="0"/>
          </a:p>
        </p:txBody>
      </p:sp>
      <p:sp>
        <p:nvSpPr>
          <p:cNvPr id="10" name="Customers can&amp;apos;t compare text"/>
          <p:cNvSpPr txBox="1"/>
          <p:nvPr/>
        </p:nvSpPr>
        <p:spPr>
          <a:xfrm>
            <a:off x="1280160" y="2542032"/>
            <a:ext cx="3840480" cy="548640"/>
          </a:xfrm>
          <a:prstGeom prst="rect">
            <a:avLst/>
          </a:prstGeom>
          <a:noFill/>
          <a:ln/>
        </p:spPr>
        <p:txBody>
          <a:bodyPr wrap="square" lIns="0" tIns="0" rIns="0" bIns="0" rtlCol="0" anchor="t"/>
          <a:lstStyle/>
          <a:p>
            <a:pPr marL="0" indent="0">
              <a:buNone/>
            </a:pPr>
            <a:r>
              <a:rPr lang="en-US" sz="1400" dirty="0">
                <a:solidFill>
                  <a:schemeClr val="tx1"/>
                </a:solidFill>
              </a:rPr>
              <a:t>Prices are unclear and nearby fresh produce is hard to find.</a:t>
            </a:r>
            <a:endParaRPr lang="en-US" sz="1400" dirty="0"/>
          </a:p>
        </p:txBody>
      </p:sp>
      <p:sp>
        <p:nvSpPr>
          <p:cNvPr id="11" name="Digital barriers circle"/>
          <p:cNvSpPr/>
          <p:nvPr/>
        </p:nvSpPr>
        <p:spPr>
          <a:xfrm>
            <a:off x="457200" y="3291840"/>
            <a:ext cx="640080" cy="640080"/>
          </a:xfrm>
          <a:prstGeom prst="ellipse">
            <a:avLst/>
          </a:prstGeom>
          <a:solidFill>
            <a:schemeClr val="tx2"/>
          </a:solidFill>
          <a:ln w="12700">
            <a:solidFill>
              <a:schemeClr val="tx2"/>
            </a:solidFill>
            <a:prstDash val="solid"/>
          </a:ln>
        </p:spPr>
      </p:sp>
      <p:pic>
        <p:nvPicPr>
          <p:cNvPr id="12" name="Digital barriers icon" descr="Digital barriers"/>
          <p:cNvPicPr>
            <a:picLocks noChangeAspect="1"/>
          </p:cNvPicPr>
          <p:nvPr/>
        </p:nvPicPr>
        <p:blipFill>
          <a:blip r:embed="rId5"/>
          <a:stretch>
            <a:fillRect/>
          </a:stretch>
        </p:blipFill>
        <p:spPr>
          <a:xfrm>
            <a:off x="610819" y="3445459"/>
            <a:ext cx="332842" cy="332842"/>
          </a:xfrm>
          <a:prstGeom prst="rect">
            <a:avLst/>
          </a:prstGeom>
        </p:spPr>
      </p:pic>
      <p:sp>
        <p:nvSpPr>
          <p:cNvPr id="13" name="Digital barriers title"/>
          <p:cNvSpPr txBox="1"/>
          <p:nvPr/>
        </p:nvSpPr>
        <p:spPr>
          <a:xfrm>
            <a:off x="1280160" y="3200400"/>
            <a:ext cx="3840480" cy="320040"/>
          </a:xfrm>
          <a:prstGeom prst="rect">
            <a:avLst/>
          </a:prstGeom>
          <a:noFill/>
          <a:ln/>
        </p:spPr>
        <p:txBody>
          <a:bodyPr wrap="square" lIns="0" tIns="0" rIns="0" bIns="0" rtlCol="0" anchor="t"/>
          <a:lstStyle/>
          <a:p>
            <a:pPr marL="0" indent="0">
              <a:buNone/>
            </a:pPr>
            <a:r>
              <a:rPr lang="en-US" sz="1800" b="1" dirty="0">
                <a:solidFill>
                  <a:schemeClr val="tx2"/>
                </a:solidFill>
              </a:rPr>
              <a:t>Digital barriers</a:t>
            </a:r>
            <a:endParaRPr lang="en-US" sz="1800" dirty="0"/>
          </a:p>
        </p:txBody>
      </p:sp>
      <p:sp>
        <p:nvSpPr>
          <p:cNvPr id="14" name="Digital barriers text"/>
          <p:cNvSpPr txBox="1"/>
          <p:nvPr/>
        </p:nvSpPr>
        <p:spPr>
          <a:xfrm>
            <a:off x="1280160" y="3547872"/>
            <a:ext cx="3840480" cy="548640"/>
          </a:xfrm>
          <a:prstGeom prst="rect">
            <a:avLst/>
          </a:prstGeom>
          <a:noFill/>
          <a:ln/>
        </p:spPr>
        <p:txBody>
          <a:bodyPr wrap="square" lIns="0" tIns="0" rIns="0" bIns="0" rtlCol="0" anchor="t"/>
          <a:lstStyle/>
          <a:p>
            <a:pPr marL="0" indent="0">
              <a:buNone/>
            </a:pPr>
            <a:r>
              <a:rPr lang="en-US" sz="1400" dirty="0">
                <a:solidFill>
                  <a:schemeClr val="tx1"/>
                </a:solidFill>
              </a:rPr>
              <a:t>Language, reading and complex forms keep farmers offline.</a:t>
            </a:r>
            <a:endParaRPr lang="en-US" sz="1400" dirty="0"/>
          </a:p>
        </p:txBody>
      </p:sp>
      <p:sp>
        <p:nvSpPr>
          <p:cNvPr id="15" name="Challenges panel"/>
          <p:cNvSpPr/>
          <p:nvPr/>
        </p:nvSpPr>
        <p:spPr>
          <a:xfrm>
            <a:off x="5486400" y="1188720"/>
            <a:ext cx="3200400" cy="2926080"/>
          </a:xfrm>
          <a:prstGeom prst="roundRect">
            <a:avLst>
              <a:gd name="adj" fmla="val 3750"/>
            </a:avLst>
          </a:prstGeom>
          <a:solidFill>
            <a:schemeClr val="bg2"/>
          </a:solidFill>
          <a:ln w="12700">
            <a:solidFill>
              <a:schemeClr val="bg2"/>
            </a:solidFill>
            <a:prstDash val="solid"/>
          </a:ln>
        </p:spPr>
      </p:sp>
      <p:sp>
        <p:nvSpPr>
          <p:cNvPr id="16" name="Panel title"/>
          <p:cNvSpPr txBox="1"/>
          <p:nvPr/>
        </p:nvSpPr>
        <p:spPr>
          <a:xfrm>
            <a:off x="5715000" y="1371600"/>
            <a:ext cx="2743200" cy="365760"/>
          </a:xfrm>
          <a:prstGeom prst="rect">
            <a:avLst/>
          </a:prstGeom>
          <a:noFill/>
          <a:ln/>
        </p:spPr>
        <p:txBody>
          <a:bodyPr wrap="square" lIns="0" tIns="0" rIns="0" bIns="0" rtlCol="0" anchor="t"/>
          <a:lstStyle/>
          <a:p>
            <a:pPr marL="0" indent="0">
              <a:buNone/>
            </a:pPr>
            <a:r>
              <a:rPr lang="en-US" sz="1800" b="1" dirty="0">
                <a:solidFill>
                  <a:schemeClr val="tx2"/>
                </a:solidFill>
              </a:rPr>
              <a:t>Challenges we faced</a:t>
            </a:r>
            <a:endParaRPr lang="en-US" sz="1800" dirty="0"/>
          </a:p>
        </p:txBody>
      </p:sp>
      <p:sp>
        <p:nvSpPr>
          <p:cNvPr id="17" name="Challenges list"/>
          <p:cNvSpPr txBox="1"/>
          <p:nvPr/>
        </p:nvSpPr>
        <p:spPr>
          <a:xfrm>
            <a:off x="5715000" y="1828800"/>
            <a:ext cx="2743200" cy="21031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Telugu speech support differs by browser</a:t>
            </a:r>
            <a:endParaRPr lang="en-US" sz="1400" dirty="0"/>
          </a:p>
          <a:p>
            <a:pPr marL="342900" indent="-342900">
              <a:spcAft>
                <a:spcPts val="600"/>
              </a:spcAft>
              <a:buSzPct val="100000"/>
              <a:buChar char="•"/>
            </a:pPr>
            <a:r>
              <a:rPr lang="en-US" sz="1400" dirty="0">
                <a:solidFill>
                  <a:schemeClr val="tx1"/>
                </a:solidFill>
              </a:rPr>
              <a:t>Fair comparison across different units</a:t>
            </a:r>
            <a:endParaRPr lang="en-US" sz="1400" dirty="0"/>
          </a:p>
          <a:p>
            <a:pPr marL="342900" indent="-342900">
              <a:spcAft>
                <a:spcPts val="600"/>
              </a:spcAft>
              <a:buSzPct val="100000"/>
              <a:buChar char="•"/>
            </a:pPr>
            <a:r>
              <a:rPr lang="en-US" sz="1400" dirty="0">
                <a:solidFill>
                  <a:schemeClr val="tx1"/>
                </a:solidFill>
              </a:rPr>
              <a:t>Stopping overselling at checkout</a:t>
            </a:r>
            <a:endParaRPr lang="en-US" sz="1400" dirty="0"/>
          </a:p>
          <a:p>
            <a:pPr marL="342900" indent="-342900">
              <a:buSzPct val="100000"/>
              <a:buChar char="•"/>
            </a:pPr>
            <a:r>
              <a:rPr lang="en-US" sz="1400" dirty="0">
                <a:solidFill>
                  <a:schemeClr val="tx1"/>
                </a:solidFill>
              </a:rPr>
              <a:t>Designing for low digital literacy</a:t>
            </a:r>
            <a:endParaRPr lang="en-US" sz="1400" dirty="0"/>
          </a:p>
        </p:txBody>
      </p:sp>
      <p:sp>
        <p:nvSpPr>
          <p:cNvPr id="18" name="Why it matters"/>
          <p:cNvSpPr txBox="1"/>
          <p:nvPr/>
        </p:nvSpPr>
        <p:spPr>
          <a:xfrm>
            <a:off x="457200" y="4297680"/>
            <a:ext cx="7589520" cy="365760"/>
          </a:xfrm>
          <a:prstGeom prst="rect">
            <a:avLst/>
          </a:prstGeom>
          <a:noFill/>
          <a:ln/>
        </p:spPr>
        <p:txBody>
          <a:bodyPr wrap="square" lIns="0" tIns="0" rIns="0" bIns="0" rtlCol="0" anchor="t"/>
          <a:lstStyle/>
          <a:p>
            <a:pPr marL="0" indent="0">
              <a:buNone/>
            </a:pPr>
            <a:r>
              <a:rPr lang="en-US" sz="1600" i="1" dirty="0">
                <a:solidFill>
                  <a:schemeClr val="tx2"/>
                </a:solidFill>
              </a:rPr>
              <a:t>Why it matters: fairer income for farmers, fairer prices for families.</a:t>
            </a:r>
            <a:endParaRPr lang="en-US" sz="16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1"/>
                </a:solidFill>
              </a:defRPr>
            </a:lvl1pPr>
          </a:lstStyle>
          <a:p>
            <a:pPr algn="l"/>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400" b="1" dirty="0">
                <a:solidFill>
                  <a:schemeClr val="tx2"/>
                </a:solidFill>
              </a:rPr>
              <a:t>Our Innovation</a:t>
            </a:r>
            <a:endParaRPr lang="en-US" sz="3400" dirty="0"/>
          </a:p>
        </p:txBody>
      </p:sp>
      <p:sp>
        <p:nvSpPr>
          <p:cNvPr id="3" name="Core idea"/>
          <p:cNvSpPr txBox="1"/>
          <p:nvPr/>
        </p:nvSpPr>
        <p:spPr>
          <a:xfrm>
            <a:off x="457200" y="1097280"/>
            <a:ext cx="8229600" cy="548640"/>
          </a:xfrm>
          <a:prstGeom prst="rect">
            <a:avLst/>
          </a:prstGeom>
          <a:noFill/>
          <a:ln/>
        </p:spPr>
        <p:txBody>
          <a:bodyPr wrap="square" lIns="0" tIns="0" rIns="0" bIns="0" rtlCol="0" anchor="t"/>
          <a:lstStyle/>
          <a:p>
            <a:pPr marL="0" indent="0">
              <a:buNone/>
            </a:pPr>
            <a:r>
              <a:rPr lang="en-US" sz="1600" i="1" dirty="0">
                <a:solidFill>
                  <a:schemeClr val="tx2"/>
                </a:solidFill>
              </a:rPr>
              <a:t>Core idea: any farmer can sell with a photo and their voice, and every customer sees the real total cost across farmers.</a:t>
            </a:r>
            <a:endParaRPr lang="en-US" sz="1600" dirty="0"/>
          </a:p>
        </p:txBody>
      </p:sp>
      <p:sp>
        <p:nvSpPr>
          <p:cNvPr id="4" name="Sell with a Photo card"/>
          <p:cNvSpPr/>
          <p:nvPr/>
        </p:nvSpPr>
        <p:spPr>
          <a:xfrm>
            <a:off x="457200" y="1828800"/>
            <a:ext cx="4023360" cy="1280160"/>
          </a:xfrm>
          <a:prstGeom prst="roundRect">
            <a:avLst>
              <a:gd name="adj" fmla="val 8571"/>
            </a:avLst>
          </a:prstGeom>
          <a:solidFill>
            <a:schemeClr val="bg2"/>
          </a:solidFill>
          <a:ln w="12700">
            <a:solidFill>
              <a:schemeClr val="bg2"/>
            </a:solidFill>
            <a:prstDash val="solid"/>
          </a:ln>
        </p:spPr>
      </p:sp>
      <p:sp>
        <p:nvSpPr>
          <p:cNvPr id="5" name="Sell with a Photo circle"/>
          <p:cNvSpPr/>
          <p:nvPr/>
        </p:nvSpPr>
        <p:spPr>
          <a:xfrm>
            <a:off x="640080" y="2148840"/>
            <a:ext cx="640080" cy="640080"/>
          </a:xfrm>
          <a:prstGeom prst="ellipse">
            <a:avLst/>
          </a:prstGeom>
          <a:solidFill>
            <a:schemeClr val="tx2"/>
          </a:solidFill>
          <a:ln w="12700">
            <a:solidFill>
              <a:schemeClr val="tx2"/>
            </a:solidFill>
            <a:prstDash val="solid"/>
          </a:ln>
        </p:spPr>
      </p:sp>
      <p:pic>
        <p:nvPicPr>
          <p:cNvPr id="6" name="Sell with a Photo icon" descr="Sell with a Photo"/>
          <p:cNvPicPr>
            <a:picLocks noChangeAspect="1"/>
          </p:cNvPicPr>
          <p:nvPr/>
        </p:nvPicPr>
        <p:blipFill>
          <a:blip r:embed="rId3"/>
          <a:stretch>
            <a:fillRect/>
          </a:stretch>
        </p:blipFill>
        <p:spPr>
          <a:xfrm>
            <a:off x="793699" y="2302459"/>
            <a:ext cx="332842" cy="332842"/>
          </a:xfrm>
          <a:prstGeom prst="rect">
            <a:avLst/>
          </a:prstGeom>
        </p:spPr>
      </p:pic>
      <p:sp>
        <p:nvSpPr>
          <p:cNvPr id="7" name="Sell with a Photo title"/>
          <p:cNvSpPr txBox="1"/>
          <p:nvPr/>
        </p:nvSpPr>
        <p:spPr>
          <a:xfrm>
            <a:off x="1463040" y="1965960"/>
            <a:ext cx="2926080" cy="320040"/>
          </a:xfrm>
          <a:prstGeom prst="rect">
            <a:avLst/>
          </a:prstGeom>
          <a:noFill/>
          <a:ln/>
        </p:spPr>
        <p:txBody>
          <a:bodyPr wrap="square" lIns="0" tIns="0" rIns="0" bIns="0" rtlCol="0" anchor="t"/>
          <a:lstStyle/>
          <a:p>
            <a:pPr marL="0" indent="0">
              <a:buNone/>
            </a:pPr>
            <a:r>
              <a:rPr lang="en-US" sz="1600" b="1" dirty="0">
                <a:solidFill>
                  <a:schemeClr val="tx2"/>
                </a:solidFill>
              </a:rPr>
              <a:t>Sell with a Photo</a:t>
            </a:r>
            <a:endParaRPr lang="en-US" sz="1600" dirty="0"/>
          </a:p>
        </p:txBody>
      </p:sp>
      <p:sp>
        <p:nvSpPr>
          <p:cNvPr id="8" name="Sell with a Photo text"/>
          <p:cNvSpPr txBox="1"/>
          <p:nvPr/>
        </p:nvSpPr>
        <p:spPr>
          <a:xfrm>
            <a:off x="1463040" y="2304288"/>
            <a:ext cx="2880360" cy="731520"/>
          </a:xfrm>
          <a:prstGeom prst="rect">
            <a:avLst/>
          </a:prstGeom>
          <a:noFill/>
          <a:ln/>
        </p:spPr>
        <p:txBody>
          <a:bodyPr wrap="square" lIns="0" tIns="0" rIns="0" bIns="0" rtlCol="0" anchor="t"/>
          <a:lstStyle/>
          <a:p>
            <a:pPr marL="0" indent="0">
              <a:buNone/>
            </a:pPr>
            <a:r>
              <a:rPr lang="en-US" sz="1400" dirty="0">
                <a:solidFill>
                  <a:schemeClr val="tx1"/>
                </a:solidFill>
              </a:rPr>
              <a:t>Snap or upload, confirm the name, publish. Almost no typing.</a:t>
            </a:r>
            <a:endParaRPr lang="en-US" sz="1400" dirty="0"/>
          </a:p>
        </p:txBody>
      </p:sp>
      <p:sp>
        <p:nvSpPr>
          <p:cNvPr id="9" name="Telugu Voice Assistant card"/>
          <p:cNvSpPr/>
          <p:nvPr/>
        </p:nvSpPr>
        <p:spPr>
          <a:xfrm>
            <a:off x="4663440" y="1828800"/>
            <a:ext cx="4023360" cy="1280160"/>
          </a:xfrm>
          <a:prstGeom prst="roundRect">
            <a:avLst>
              <a:gd name="adj" fmla="val 8571"/>
            </a:avLst>
          </a:prstGeom>
          <a:solidFill>
            <a:schemeClr val="bg2"/>
          </a:solidFill>
          <a:ln w="12700">
            <a:solidFill>
              <a:schemeClr val="bg2"/>
            </a:solidFill>
            <a:prstDash val="solid"/>
          </a:ln>
        </p:spPr>
      </p:sp>
      <p:sp>
        <p:nvSpPr>
          <p:cNvPr id="10" name="Telugu Voice Assistant circle"/>
          <p:cNvSpPr/>
          <p:nvPr/>
        </p:nvSpPr>
        <p:spPr>
          <a:xfrm>
            <a:off x="4846320" y="2148840"/>
            <a:ext cx="640080" cy="640080"/>
          </a:xfrm>
          <a:prstGeom prst="ellipse">
            <a:avLst/>
          </a:prstGeom>
          <a:solidFill>
            <a:schemeClr val="tx2"/>
          </a:solidFill>
          <a:ln w="12700">
            <a:solidFill>
              <a:schemeClr val="tx2"/>
            </a:solidFill>
            <a:prstDash val="solid"/>
          </a:ln>
        </p:spPr>
      </p:sp>
      <p:pic>
        <p:nvPicPr>
          <p:cNvPr id="11" name="Telugu Voice Assistant icon" descr="Telugu Voice Assistant"/>
          <p:cNvPicPr>
            <a:picLocks noChangeAspect="1"/>
          </p:cNvPicPr>
          <p:nvPr/>
        </p:nvPicPr>
        <p:blipFill>
          <a:blip r:embed="rId4"/>
          <a:stretch>
            <a:fillRect/>
          </a:stretch>
        </p:blipFill>
        <p:spPr>
          <a:xfrm>
            <a:off x="4999939" y="2302459"/>
            <a:ext cx="332842" cy="332842"/>
          </a:xfrm>
          <a:prstGeom prst="rect">
            <a:avLst/>
          </a:prstGeom>
        </p:spPr>
      </p:pic>
      <p:sp>
        <p:nvSpPr>
          <p:cNvPr id="12" name="Telugu Voice Assistant title"/>
          <p:cNvSpPr txBox="1"/>
          <p:nvPr/>
        </p:nvSpPr>
        <p:spPr>
          <a:xfrm>
            <a:off x="5669280" y="1965960"/>
            <a:ext cx="2926080" cy="320040"/>
          </a:xfrm>
          <a:prstGeom prst="rect">
            <a:avLst/>
          </a:prstGeom>
          <a:noFill/>
          <a:ln/>
        </p:spPr>
        <p:txBody>
          <a:bodyPr wrap="square" lIns="0" tIns="0" rIns="0" bIns="0" rtlCol="0" anchor="t"/>
          <a:lstStyle/>
          <a:p>
            <a:pPr marL="0" indent="0">
              <a:buNone/>
            </a:pPr>
            <a:r>
              <a:rPr lang="en-US" sz="1600" b="1" dirty="0">
                <a:solidFill>
                  <a:schemeClr val="tx2"/>
                </a:solidFill>
              </a:rPr>
              <a:t>Telugu Voice Assistant</a:t>
            </a:r>
            <a:endParaRPr lang="en-US" sz="1600" dirty="0"/>
          </a:p>
        </p:txBody>
      </p:sp>
      <p:sp>
        <p:nvSpPr>
          <p:cNvPr id="13" name="Telugu Voice Assistant text"/>
          <p:cNvSpPr txBox="1"/>
          <p:nvPr/>
        </p:nvSpPr>
        <p:spPr>
          <a:xfrm>
            <a:off x="5669280" y="2304288"/>
            <a:ext cx="2880360" cy="731520"/>
          </a:xfrm>
          <a:prstGeom prst="rect">
            <a:avLst/>
          </a:prstGeom>
          <a:noFill/>
          <a:ln/>
        </p:spPr>
        <p:txBody>
          <a:bodyPr wrap="square" lIns="0" tIns="0" rIns="0" bIns="0" rtlCol="0" anchor="t"/>
          <a:lstStyle/>
          <a:p>
            <a:pPr marL="0" indent="0">
              <a:buNone/>
            </a:pPr>
            <a:r>
              <a:rPr lang="en-US" sz="1400" dirty="0">
                <a:solidFill>
                  <a:schemeClr val="tx1"/>
                </a:solidFill>
              </a:rPr>
              <a:t>Speak quantity and price. Nothing saves without confirmation.</a:t>
            </a:r>
            <a:endParaRPr lang="en-US" sz="1400" dirty="0"/>
          </a:p>
        </p:txBody>
      </p:sp>
      <p:sp>
        <p:nvSpPr>
          <p:cNvPr id="14" name="Real Price Comparison card"/>
          <p:cNvSpPr/>
          <p:nvPr/>
        </p:nvSpPr>
        <p:spPr>
          <a:xfrm>
            <a:off x="457200" y="3246120"/>
            <a:ext cx="4023360" cy="1280160"/>
          </a:xfrm>
          <a:prstGeom prst="roundRect">
            <a:avLst>
              <a:gd name="adj" fmla="val 8571"/>
            </a:avLst>
          </a:prstGeom>
          <a:solidFill>
            <a:schemeClr val="bg2"/>
          </a:solidFill>
          <a:ln w="12700">
            <a:solidFill>
              <a:schemeClr val="bg2"/>
            </a:solidFill>
            <a:prstDash val="solid"/>
          </a:ln>
        </p:spPr>
      </p:sp>
      <p:sp>
        <p:nvSpPr>
          <p:cNvPr id="15" name="Real Price Comparison circle"/>
          <p:cNvSpPr/>
          <p:nvPr/>
        </p:nvSpPr>
        <p:spPr>
          <a:xfrm>
            <a:off x="640080" y="3566160"/>
            <a:ext cx="640080" cy="640080"/>
          </a:xfrm>
          <a:prstGeom prst="ellipse">
            <a:avLst/>
          </a:prstGeom>
          <a:solidFill>
            <a:schemeClr val="tx2"/>
          </a:solidFill>
          <a:ln w="12700">
            <a:solidFill>
              <a:schemeClr val="tx2"/>
            </a:solidFill>
            <a:prstDash val="solid"/>
          </a:ln>
        </p:spPr>
      </p:sp>
      <p:pic>
        <p:nvPicPr>
          <p:cNvPr id="16" name="Real Price Comparison icon" descr="Real Price Comparison"/>
          <p:cNvPicPr>
            <a:picLocks noChangeAspect="1"/>
          </p:cNvPicPr>
          <p:nvPr/>
        </p:nvPicPr>
        <p:blipFill>
          <a:blip r:embed="rId5"/>
          <a:stretch>
            <a:fillRect/>
          </a:stretch>
        </p:blipFill>
        <p:spPr>
          <a:xfrm>
            <a:off x="793699" y="3719779"/>
            <a:ext cx="332842" cy="332842"/>
          </a:xfrm>
          <a:prstGeom prst="rect">
            <a:avLst/>
          </a:prstGeom>
        </p:spPr>
      </p:pic>
      <p:sp>
        <p:nvSpPr>
          <p:cNvPr id="17" name="Real Price Comparison title"/>
          <p:cNvSpPr txBox="1"/>
          <p:nvPr/>
        </p:nvSpPr>
        <p:spPr>
          <a:xfrm>
            <a:off x="1463040" y="3383280"/>
            <a:ext cx="2926080" cy="320040"/>
          </a:xfrm>
          <a:prstGeom prst="rect">
            <a:avLst/>
          </a:prstGeom>
          <a:noFill/>
          <a:ln/>
        </p:spPr>
        <p:txBody>
          <a:bodyPr wrap="square" lIns="0" tIns="0" rIns="0" bIns="0" rtlCol="0" anchor="t"/>
          <a:lstStyle/>
          <a:p>
            <a:pPr marL="0" indent="0">
              <a:buNone/>
            </a:pPr>
            <a:r>
              <a:rPr lang="en-US" sz="1600" b="1" dirty="0">
                <a:solidFill>
                  <a:schemeClr val="tx2"/>
                </a:solidFill>
              </a:rPr>
              <a:t>Real Price Comparison</a:t>
            </a:r>
            <a:endParaRPr lang="en-US" sz="1600" dirty="0"/>
          </a:p>
        </p:txBody>
      </p:sp>
      <p:sp>
        <p:nvSpPr>
          <p:cNvPr id="18" name="Real Price Comparison text"/>
          <p:cNvSpPr txBox="1"/>
          <p:nvPr/>
        </p:nvSpPr>
        <p:spPr>
          <a:xfrm>
            <a:off x="1463040" y="3721608"/>
            <a:ext cx="2880360" cy="731520"/>
          </a:xfrm>
          <a:prstGeom prst="rect">
            <a:avLst/>
          </a:prstGeom>
          <a:noFill/>
          <a:ln/>
        </p:spPr>
        <p:txBody>
          <a:bodyPr wrap="square" lIns="0" tIns="0" rIns="0" bIns="0" rtlCol="0" anchor="t"/>
          <a:lstStyle/>
          <a:p>
            <a:pPr marL="0" indent="0">
              <a:buNone/>
            </a:pPr>
            <a:r>
              <a:rPr lang="en-US" sz="1400" dirty="0">
                <a:solidFill>
                  <a:schemeClr val="tx1"/>
                </a:solidFill>
              </a:rPr>
              <a:t>Same product, many farmers, total cost including delivery.</a:t>
            </a:r>
            <a:endParaRPr lang="en-US" sz="1400" dirty="0"/>
          </a:p>
        </p:txBody>
      </p:sp>
      <p:sp>
        <p:nvSpPr>
          <p:cNvPr id="19" name="Easy Mode + Group Buying card"/>
          <p:cNvSpPr/>
          <p:nvPr/>
        </p:nvSpPr>
        <p:spPr>
          <a:xfrm>
            <a:off x="4663440" y="3246120"/>
            <a:ext cx="4023360" cy="1280160"/>
          </a:xfrm>
          <a:prstGeom prst="roundRect">
            <a:avLst>
              <a:gd name="adj" fmla="val 8571"/>
            </a:avLst>
          </a:prstGeom>
          <a:solidFill>
            <a:schemeClr val="bg2"/>
          </a:solidFill>
          <a:ln w="12700">
            <a:solidFill>
              <a:schemeClr val="bg2"/>
            </a:solidFill>
            <a:prstDash val="solid"/>
          </a:ln>
        </p:spPr>
      </p:sp>
      <p:sp>
        <p:nvSpPr>
          <p:cNvPr id="20" name="Easy Mode + Group Buying circle"/>
          <p:cNvSpPr/>
          <p:nvPr/>
        </p:nvSpPr>
        <p:spPr>
          <a:xfrm>
            <a:off x="4846320" y="3566160"/>
            <a:ext cx="640080" cy="640080"/>
          </a:xfrm>
          <a:prstGeom prst="ellipse">
            <a:avLst/>
          </a:prstGeom>
          <a:solidFill>
            <a:schemeClr val="tx2"/>
          </a:solidFill>
          <a:ln w="12700">
            <a:solidFill>
              <a:schemeClr val="tx2"/>
            </a:solidFill>
            <a:prstDash val="solid"/>
          </a:ln>
        </p:spPr>
      </p:sp>
      <p:pic>
        <p:nvPicPr>
          <p:cNvPr id="21" name="Easy Mode + Group Buying icon" descr="Easy Mode + Group Buying"/>
          <p:cNvPicPr>
            <a:picLocks noChangeAspect="1"/>
          </p:cNvPicPr>
          <p:nvPr/>
        </p:nvPicPr>
        <p:blipFill>
          <a:blip r:embed="rId6"/>
          <a:stretch>
            <a:fillRect/>
          </a:stretch>
        </p:blipFill>
        <p:spPr>
          <a:xfrm>
            <a:off x="4999939" y="3719779"/>
            <a:ext cx="332842" cy="332842"/>
          </a:xfrm>
          <a:prstGeom prst="rect">
            <a:avLst/>
          </a:prstGeom>
        </p:spPr>
      </p:pic>
      <p:sp>
        <p:nvSpPr>
          <p:cNvPr id="22" name="Easy Mode + Group Buying title"/>
          <p:cNvSpPr txBox="1"/>
          <p:nvPr/>
        </p:nvSpPr>
        <p:spPr>
          <a:xfrm>
            <a:off x="5669280" y="3383280"/>
            <a:ext cx="2926080" cy="320040"/>
          </a:xfrm>
          <a:prstGeom prst="rect">
            <a:avLst/>
          </a:prstGeom>
          <a:noFill/>
          <a:ln/>
        </p:spPr>
        <p:txBody>
          <a:bodyPr wrap="square" lIns="0" tIns="0" rIns="0" bIns="0" rtlCol="0" anchor="t"/>
          <a:lstStyle/>
          <a:p>
            <a:pPr marL="0" indent="0">
              <a:buNone/>
            </a:pPr>
            <a:r>
              <a:rPr lang="en-US" sz="1600" b="1" dirty="0">
                <a:solidFill>
                  <a:schemeClr val="tx2"/>
                </a:solidFill>
              </a:rPr>
              <a:t>Easy Mode + Group Buying</a:t>
            </a:r>
            <a:endParaRPr lang="en-US" sz="1600" dirty="0"/>
          </a:p>
        </p:txBody>
      </p:sp>
      <p:sp>
        <p:nvSpPr>
          <p:cNvPr id="23" name="Easy Mode + Group Buying text"/>
          <p:cNvSpPr txBox="1"/>
          <p:nvPr/>
        </p:nvSpPr>
        <p:spPr>
          <a:xfrm>
            <a:off x="5669280" y="3721608"/>
            <a:ext cx="2880360" cy="731520"/>
          </a:xfrm>
          <a:prstGeom prst="rect">
            <a:avLst/>
          </a:prstGeom>
          <a:noFill/>
          <a:ln/>
        </p:spPr>
        <p:txBody>
          <a:bodyPr wrap="square" lIns="0" tIns="0" rIns="0" bIns="0" rtlCol="0" anchor="t"/>
          <a:lstStyle/>
          <a:p>
            <a:pPr marL="0" indent="0">
              <a:buNone/>
            </a:pPr>
            <a:r>
              <a:rPr lang="en-US" sz="1400" dirty="0">
                <a:solidFill>
                  <a:schemeClr val="tx1"/>
                </a:solidFill>
              </a:rPr>
              <a:t>Big buttons for farmers; neighbours pool orders for bulk targets.</a:t>
            </a:r>
            <a:endParaRPr lang="en-US" sz="1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1"/>
                </a:solidFill>
              </a:defRPr>
            </a:lvl1pPr>
          </a:lstStyle>
          <a:p>
            <a:pPr algn="l"/>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400" b="1" dirty="0">
                <a:solidFill>
                  <a:schemeClr val="tx2"/>
                </a:solidFill>
              </a:rPr>
              <a:t>How It Works</a:t>
            </a:r>
            <a:endParaRPr lang="en-US" sz="3400" dirty="0"/>
          </a:p>
        </p:txBody>
      </p:sp>
      <p:sp>
        <p:nvSpPr>
          <p:cNvPr id="3" name="Input box"/>
          <p:cNvSpPr/>
          <p:nvPr/>
        </p:nvSpPr>
        <p:spPr>
          <a:xfrm>
            <a:off x="457200" y="1188720"/>
            <a:ext cx="1828800" cy="1691640"/>
          </a:xfrm>
          <a:prstGeom prst="roundRect">
            <a:avLst>
              <a:gd name="adj" fmla="val 6486"/>
            </a:avLst>
          </a:prstGeom>
          <a:solidFill>
            <a:schemeClr val="bg2"/>
          </a:solidFill>
          <a:ln w="12700">
            <a:solidFill>
              <a:schemeClr val="bg2"/>
            </a:solidFill>
            <a:prstDash val="solid"/>
          </a:ln>
        </p:spPr>
      </p:sp>
      <p:sp>
        <p:nvSpPr>
          <p:cNvPr id="4" name="Input title"/>
          <p:cNvSpPr txBox="1"/>
          <p:nvPr/>
        </p:nvSpPr>
        <p:spPr>
          <a:xfrm>
            <a:off x="594360" y="1298448"/>
            <a:ext cx="1554480" cy="320040"/>
          </a:xfrm>
          <a:prstGeom prst="rect">
            <a:avLst/>
          </a:prstGeom>
          <a:noFill/>
          <a:ln/>
        </p:spPr>
        <p:txBody>
          <a:bodyPr wrap="square" lIns="0" tIns="0" rIns="0" bIns="0" rtlCol="0" anchor="t"/>
          <a:lstStyle/>
          <a:p>
            <a:pPr marL="0" indent="0">
              <a:buNone/>
            </a:pPr>
            <a:r>
              <a:rPr lang="en-US" sz="1800" b="1" dirty="0">
                <a:solidFill>
                  <a:schemeClr val="tx2"/>
                </a:solidFill>
              </a:rPr>
              <a:t>Input</a:t>
            </a:r>
            <a:endParaRPr lang="en-US" sz="1800" dirty="0"/>
          </a:p>
        </p:txBody>
      </p:sp>
      <p:sp>
        <p:nvSpPr>
          <p:cNvPr id="5" name="Input text"/>
          <p:cNvSpPr txBox="1"/>
          <p:nvPr/>
        </p:nvSpPr>
        <p:spPr>
          <a:xfrm>
            <a:off x="594360" y="1691640"/>
            <a:ext cx="1600200" cy="1097280"/>
          </a:xfrm>
          <a:prstGeom prst="rect">
            <a:avLst/>
          </a:prstGeom>
          <a:noFill/>
          <a:ln/>
        </p:spPr>
        <p:txBody>
          <a:bodyPr wrap="square" lIns="0" tIns="0" rIns="0" bIns="0" rtlCol="0" anchor="t"/>
          <a:lstStyle/>
          <a:p>
            <a:pPr marL="0" indent="0">
              <a:buNone/>
            </a:pPr>
            <a:r>
              <a:rPr lang="en-US" sz="1400" dirty="0">
                <a:solidFill>
                  <a:schemeClr val="tx1"/>
                </a:solidFill>
              </a:rPr>
              <a:t>Photo, voice, form, search</a:t>
            </a:r>
            <a:endParaRPr lang="en-US" sz="1400" dirty="0"/>
          </a:p>
        </p:txBody>
      </p:sp>
      <p:pic>
        <p:nvPicPr>
          <p:cNvPr id="6" name="Arrow 1" descr="arrow"/>
          <p:cNvPicPr>
            <a:picLocks noChangeAspect="1"/>
          </p:cNvPicPr>
          <p:nvPr/>
        </p:nvPicPr>
        <p:blipFill>
          <a:blip r:embed="rId3"/>
          <a:stretch>
            <a:fillRect/>
          </a:stretch>
        </p:blipFill>
        <p:spPr>
          <a:xfrm>
            <a:off x="2322576" y="1920240"/>
            <a:ext cx="228600" cy="228600"/>
          </a:xfrm>
          <a:prstGeom prst="rect">
            <a:avLst/>
          </a:prstGeom>
        </p:spPr>
      </p:pic>
      <p:sp>
        <p:nvSpPr>
          <p:cNvPr id="7" name="Processing box"/>
          <p:cNvSpPr/>
          <p:nvPr/>
        </p:nvSpPr>
        <p:spPr>
          <a:xfrm>
            <a:off x="2587752" y="1188720"/>
            <a:ext cx="1828800" cy="1691640"/>
          </a:xfrm>
          <a:prstGeom prst="roundRect">
            <a:avLst>
              <a:gd name="adj" fmla="val 6486"/>
            </a:avLst>
          </a:prstGeom>
          <a:solidFill>
            <a:schemeClr val="bg2"/>
          </a:solidFill>
          <a:ln w="12700">
            <a:solidFill>
              <a:schemeClr val="bg2"/>
            </a:solidFill>
            <a:prstDash val="solid"/>
          </a:ln>
        </p:spPr>
      </p:sp>
      <p:sp>
        <p:nvSpPr>
          <p:cNvPr id="8" name="Processing title"/>
          <p:cNvSpPr txBox="1"/>
          <p:nvPr/>
        </p:nvSpPr>
        <p:spPr>
          <a:xfrm>
            <a:off x="2724912" y="1298448"/>
            <a:ext cx="1554480" cy="320040"/>
          </a:xfrm>
          <a:prstGeom prst="rect">
            <a:avLst/>
          </a:prstGeom>
          <a:noFill/>
          <a:ln/>
        </p:spPr>
        <p:txBody>
          <a:bodyPr wrap="square" lIns="0" tIns="0" rIns="0" bIns="0" rtlCol="0" anchor="t"/>
          <a:lstStyle/>
          <a:p>
            <a:pPr marL="0" indent="0">
              <a:buNone/>
            </a:pPr>
            <a:r>
              <a:rPr lang="en-US" sz="1800" b="1" dirty="0">
                <a:solidFill>
                  <a:schemeClr val="tx2"/>
                </a:solidFill>
              </a:rPr>
              <a:t>Processing</a:t>
            </a:r>
            <a:endParaRPr lang="en-US" sz="1800" dirty="0"/>
          </a:p>
        </p:txBody>
      </p:sp>
      <p:sp>
        <p:nvSpPr>
          <p:cNvPr id="9" name="Processing text"/>
          <p:cNvSpPr txBox="1"/>
          <p:nvPr/>
        </p:nvSpPr>
        <p:spPr>
          <a:xfrm>
            <a:off x="2724912" y="1691640"/>
            <a:ext cx="1600200" cy="1097280"/>
          </a:xfrm>
          <a:prstGeom prst="rect">
            <a:avLst/>
          </a:prstGeom>
          <a:noFill/>
          <a:ln/>
        </p:spPr>
        <p:txBody>
          <a:bodyPr wrap="square" lIns="0" tIns="0" rIns="0" bIns="0" rtlCol="0" anchor="t"/>
          <a:lstStyle/>
          <a:p>
            <a:pPr marL="0" indent="0">
              <a:buNone/>
            </a:pPr>
            <a:r>
              <a:rPr lang="en-US" sz="1400" dirty="0">
                <a:solidFill>
                  <a:schemeClr val="tx1"/>
                </a:solidFill>
              </a:rPr>
              <a:t>Express API validates and stores in MongoDB</a:t>
            </a:r>
            <a:endParaRPr lang="en-US" sz="1400" dirty="0"/>
          </a:p>
        </p:txBody>
      </p:sp>
      <p:pic>
        <p:nvPicPr>
          <p:cNvPr id="10" name="Arrow 2" descr="arrow"/>
          <p:cNvPicPr>
            <a:picLocks noChangeAspect="1"/>
          </p:cNvPicPr>
          <p:nvPr/>
        </p:nvPicPr>
        <p:blipFill>
          <a:blip r:embed="rId3"/>
          <a:stretch>
            <a:fillRect/>
          </a:stretch>
        </p:blipFill>
        <p:spPr>
          <a:xfrm>
            <a:off x="4453128" y="1920240"/>
            <a:ext cx="228600" cy="228600"/>
          </a:xfrm>
          <a:prstGeom prst="rect">
            <a:avLst/>
          </a:prstGeom>
        </p:spPr>
      </p:pic>
      <p:sp>
        <p:nvSpPr>
          <p:cNvPr id="11" name="Algorithm box"/>
          <p:cNvSpPr/>
          <p:nvPr/>
        </p:nvSpPr>
        <p:spPr>
          <a:xfrm>
            <a:off x="4718304" y="1188720"/>
            <a:ext cx="1828800" cy="1691640"/>
          </a:xfrm>
          <a:prstGeom prst="roundRect">
            <a:avLst>
              <a:gd name="adj" fmla="val 6486"/>
            </a:avLst>
          </a:prstGeom>
          <a:solidFill>
            <a:schemeClr val="bg2"/>
          </a:solidFill>
          <a:ln w="12700">
            <a:solidFill>
              <a:schemeClr val="bg2"/>
            </a:solidFill>
            <a:prstDash val="solid"/>
          </a:ln>
        </p:spPr>
      </p:sp>
      <p:sp>
        <p:nvSpPr>
          <p:cNvPr id="12" name="Algorithm title"/>
          <p:cNvSpPr txBox="1"/>
          <p:nvPr/>
        </p:nvSpPr>
        <p:spPr>
          <a:xfrm>
            <a:off x="4855464" y="1298448"/>
            <a:ext cx="1554480" cy="320040"/>
          </a:xfrm>
          <a:prstGeom prst="rect">
            <a:avLst/>
          </a:prstGeom>
          <a:noFill/>
          <a:ln/>
        </p:spPr>
        <p:txBody>
          <a:bodyPr wrap="square" lIns="0" tIns="0" rIns="0" bIns="0" rtlCol="0" anchor="t"/>
          <a:lstStyle/>
          <a:p>
            <a:pPr marL="0" indent="0">
              <a:buNone/>
            </a:pPr>
            <a:r>
              <a:rPr lang="en-US" sz="1800" b="1" dirty="0">
                <a:solidFill>
                  <a:schemeClr val="tx2"/>
                </a:solidFill>
              </a:rPr>
              <a:t>Algorithm</a:t>
            </a:r>
            <a:endParaRPr lang="en-US" sz="1800" dirty="0"/>
          </a:p>
        </p:txBody>
      </p:sp>
      <p:sp>
        <p:nvSpPr>
          <p:cNvPr id="13" name="Algorithm text"/>
          <p:cNvSpPr txBox="1"/>
          <p:nvPr/>
        </p:nvSpPr>
        <p:spPr>
          <a:xfrm>
            <a:off x="4855464" y="1691640"/>
            <a:ext cx="1600200" cy="1097280"/>
          </a:xfrm>
          <a:prstGeom prst="rect">
            <a:avLst/>
          </a:prstGeom>
          <a:noFill/>
          <a:ln/>
        </p:spPr>
        <p:txBody>
          <a:bodyPr wrap="square" lIns="0" tIns="0" rIns="0" bIns="0" rtlCol="0" anchor="t"/>
          <a:lstStyle/>
          <a:p>
            <a:pPr marL="0" indent="0">
              <a:buNone/>
            </a:pPr>
            <a:r>
              <a:rPr lang="en-US" sz="1400" dirty="0">
                <a:solidFill>
                  <a:schemeClr val="tx1"/>
                </a:solidFill>
              </a:rPr>
              <a:t>Normalize units, add delivery, rank</a:t>
            </a:r>
            <a:endParaRPr lang="en-US" sz="1400" dirty="0"/>
          </a:p>
        </p:txBody>
      </p:sp>
      <p:pic>
        <p:nvPicPr>
          <p:cNvPr id="14" name="Arrow 3" descr="arrow"/>
          <p:cNvPicPr>
            <a:picLocks noChangeAspect="1"/>
          </p:cNvPicPr>
          <p:nvPr/>
        </p:nvPicPr>
        <p:blipFill>
          <a:blip r:embed="rId3"/>
          <a:stretch>
            <a:fillRect/>
          </a:stretch>
        </p:blipFill>
        <p:spPr>
          <a:xfrm>
            <a:off x="6583680" y="1920240"/>
            <a:ext cx="228600" cy="228600"/>
          </a:xfrm>
          <a:prstGeom prst="rect">
            <a:avLst/>
          </a:prstGeom>
        </p:spPr>
      </p:pic>
      <p:sp>
        <p:nvSpPr>
          <p:cNvPr id="15" name="Output box"/>
          <p:cNvSpPr/>
          <p:nvPr/>
        </p:nvSpPr>
        <p:spPr>
          <a:xfrm>
            <a:off x="6848856" y="1188720"/>
            <a:ext cx="1828800" cy="1691640"/>
          </a:xfrm>
          <a:prstGeom prst="roundRect">
            <a:avLst>
              <a:gd name="adj" fmla="val 6486"/>
            </a:avLst>
          </a:prstGeom>
          <a:solidFill>
            <a:schemeClr val="bg2"/>
          </a:solidFill>
          <a:ln w="12700">
            <a:solidFill>
              <a:schemeClr val="bg2"/>
            </a:solidFill>
            <a:prstDash val="solid"/>
          </a:ln>
        </p:spPr>
      </p:sp>
      <p:sp>
        <p:nvSpPr>
          <p:cNvPr id="16" name="Output title"/>
          <p:cNvSpPr txBox="1"/>
          <p:nvPr/>
        </p:nvSpPr>
        <p:spPr>
          <a:xfrm>
            <a:off x="6986016" y="1298448"/>
            <a:ext cx="1554480" cy="320040"/>
          </a:xfrm>
          <a:prstGeom prst="rect">
            <a:avLst/>
          </a:prstGeom>
          <a:noFill/>
          <a:ln/>
        </p:spPr>
        <p:txBody>
          <a:bodyPr wrap="square" lIns="0" tIns="0" rIns="0" bIns="0" rtlCol="0" anchor="t"/>
          <a:lstStyle/>
          <a:p>
            <a:pPr marL="0" indent="0">
              <a:buNone/>
            </a:pPr>
            <a:r>
              <a:rPr lang="en-US" sz="1800" b="1" dirty="0">
                <a:solidFill>
                  <a:schemeClr val="tx2"/>
                </a:solidFill>
              </a:rPr>
              <a:t>Output</a:t>
            </a:r>
            <a:endParaRPr lang="en-US" sz="1800" dirty="0"/>
          </a:p>
        </p:txBody>
      </p:sp>
      <p:sp>
        <p:nvSpPr>
          <p:cNvPr id="17" name="Output text"/>
          <p:cNvSpPr txBox="1"/>
          <p:nvPr/>
        </p:nvSpPr>
        <p:spPr>
          <a:xfrm>
            <a:off x="6986016" y="1691640"/>
            <a:ext cx="1600200" cy="1097280"/>
          </a:xfrm>
          <a:prstGeom prst="rect">
            <a:avLst/>
          </a:prstGeom>
          <a:noFill/>
          <a:ln/>
        </p:spPr>
        <p:txBody>
          <a:bodyPr wrap="square" lIns="0" tIns="0" rIns="0" bIns="0" rtlCol="0" anchor="t"/>
          <a:lstStyle/>
          <a:p>
            <a:pPr marL="0" indent="0">
              <a:buNone/>
            </a:pPr>
            <a:r>
              <a:rPr lang="en-US" sz="1400" dirty="0">
                <a:solidFill>
                  <a:schemeClr val="tx1"/>
                </a:solidFill>
              </a:rPr>
              <a:t>Ranked offers, orders, status timeline</a:t>
            </a:r>
            <a:endParaRPr lang="en-US" sz="1400" dirty="0"/>
          </a:p>
        </p:txBody>
      </p:sp>
      <p:sp>
        <p:nvSpPr>
          <p:cNvPr id="18" name="Journey title"/>
          <p:cNvSpPr txBox="1"/>
          <p:nvPr/>
        </p:nvSpPr>
        <p:spPr>
          <a:xfrm>
            <a:off x="457200" y="3063240"/>
            <a:ext cx="2743200" cy="320040"/>
          </a:xfrm>
          <a:prstGeom prst="rect">
            <a:avLst/>
          </a:prstGeom>
          <a:noFill/>
          <a:ln/>
        </p:spPr>
        <p:txBody>
          <a:bodyPr wrap="square" lIns="0" tIns="0" rIns="0" bIns="0" rtlCol="0" anchor="t"/>
          <a:lstStyle/>
          <a:p>
            <a:pPr marL="0" indent="0">
              <a:buNone/>
            </a:pPr>
            <a:r>
              <a:rPr lang="en-US" sz="1800" b="1" dirty="0">
                <a:solidFill>
                  <a:schemeClr val="tx2"/>
                </a:solidFill>
              </a:rPr>
              <a:t>User journey</a:t>
            </a:r>
            <a:endParaRPr lang="en-US" sz="1800" dirty="0"/>
          </a:p>
        </p:txBody>
      </p:sp>
      <p:sp>
        <p:nvSpPr>
          <p:cNvPr id="19" name="Journey line"/>
          <p:cNvSpPr/>
          <p:nvPr/>
        </p:nvSpPr>
        <p:spPr>
          <a:xfrm>
            <a:off x="1280160" y="3767328"/>
            <a:ext cx="6583680" cy="0"/>
          </a:xfrm>
          <a:prstGeom prst="line">
            <a:avLst/>
          </a:prstGeom>
          <a:noFill/>
          <a:ln w="25400">
            <a:solidFill>
              <a:schemeClr val="accent5"/>
            </a:solidFill>
            <a:prstDash val="solid"/>
          </a:ln>
        </p:spPr>
      </p:sp>
      <p:sp>
        <p:nvSpPr>
          <p:cNvPr id="20" name="Step 1 circle"/>
          <p:cNvSpPr/>
          <p:nvPr/>
        </p:nvSpPr>
        <p:spPr>
          <a:xfrm>
            <a:off x="1033272" y="3520440"/>
            <a:ext cx="493776" cy="493776"/>
          </a:xfrm>
          <a:prstGeom prst="ellipse">
            <a:avLst/>
          </a:prstGeom>
          <a:solidFill>
            <a:schemeClr val="tx2"/>
          </a:solidFill>
          <a:ln w="12700">
            <a:solidFill>
              <a:schemeClr val="tx2"/>
            </a:solidFill>
            <a:prstDash val="solid"/>
          </a:ln>
        </p:spPr>
      </p:sp>
      <p:sp>
        <p:nvSpPr>
          <p:cNvPr id="21" name="Step 1 number"/>
          <p:cNvSpPr txBox="1"/>
          <p:nvPr/>
        </p:nvSpPr>
        <p:spPr>
          <a:xfrm>
            <a:off x="1033272" y="3520440"/>
            <a:ext cx="493776" cy="493776"/>
          </a:xfrm>
          <a:prstGeom prst="rect">
            <a:avLst/>
          </a:prstGeom>
          <a:noFill/>
          <a:ln/>
        </p:spPr>
        <p:txBody>
          <a:bodyPr wrap="square" lIns="0" tIns="0" rIns="0" bIns="0" rtlCol="0" anchor="ctr"/>
          <a:lstStyle/>
          <a:p>
            <a:pPr marL="0" indent="0" algn="ctr">
              <a:buNone/>
            </a:pPr>
            <a:r>
              <a:rPr lang="en-US" sz="1600" b="1" dirty="0">
                <a:solidFill>
                  <a:schemeClr val="bg1"/>
                </a:solidFill>
              </a:rPr>
              <a:t>1</a:t>
            </a:r>
            <a:endParaRPr lang="en-US" sz="1600" dirty="0"/>
          </a:p>
        </p:txBody>
      </p:sp>
      <p:sp>
        <p:nvSpPr>
          <p:cNvPr id="22" name="Step 1 label"/>
          <p:cNvSpPr txBox="1"/>
          <p:nvPr/>
        </p:nvSpPr>
        <p:spPr>
          <a:xfrm>
            <a:off x="502920" y="4114800"/>
            <a:ext cx="1554480" cy="548640"/>
          </a:xfrm>
          <a:prstGeom prst="rect">
            <a:avLst/>
          </a:prstGeom>
          <a:noFill/>
          <a:ln/>
        </p:spPr>
        <p:txBody>
          <a:bodyPr wrap="square" lIns="0" tIns="0" rIns="0" bIns="0" rtlCol="0" anchor="t"/>
          <a:lstStyle/>
          <a:p>
            <a:pPr marL="0" indent="0" algn="ctr">
              <a:buNone/>
            </a:pPr>
            <a:r>
              <a:rPr lang="en-US" sz="1400" dirty="0">
                <a:solidFill>
                  <a:schemeClr val="tx1"/>
                </a:solidFill>
              </a:rPr>
              <a:t>Farmer lists produce</a:t>
            </a:r>
            <a:endParaRPr lang="en-US" sz="1400" dirty="0"/>
          </a:p>
        </p:txBody>
      </p:sp>
      <p:sp>
        <p:nvSpPr>
          <p:cNvPr id="23" name="Step 2 circle"/>
          <p:cNvSpPr/>
          <p:nvPr/>
        </p:nvSpPr>
        <p:spPr>
          <a:xfrm>
            <a:off x="2679192" y="3520440"/>
            <a:ext cx="493776" cy="493776"/>
          </a:xfrm>
          <a:prstGeom prst="ellipse">
            <a:avLst/>
          </a:prstGeom>
          <a:solidFill>
            <a:schemeClr val="tx2"/>
          </a:solidFill>
          <a:ln w="12700">
            <a:solidFill>
              <a:schemeClr val="tx2"/>
            </a:solidFill>
            <a:prstDash val="solid"/>
          </a:ln>
        </p:spPr>
      </p:sp>
      <p:sp>
        <p:nvSpPr>
          <p:cNvPr id="24" name="Step 2 number"/>
          <p:cNvSpPr txBox="1"/>
          <p:nvPr/>
        </p:nvSpPr>
        <p:spPr>
          <a:xfrm>
            <a:off x="2679192" y="3520440"/>
            <a:ext cx="493776" cy="493776"/>
          </a:xfrm>
          <a:prstGeom prst="rect">
            <a:avLst/>
          </a:prstGeom>
          <a:noFill/>
          <a:ln/>
        </p:spPr>
        <p:txBody>
          <a:bodyPr wrap="square" lIns="0" tIns="0" rIns="0" bIns="0" rtlCol="0" anchor="ctr"/>
          <a:lstStyle/>
          <a:p>
            <a:pPr marL="0" indent="0" algn="ctr">
              <a:buNone/>
            </a:pPr>
            <a:r>
              <a:rPr lang="en-US" sz="1600" b="1" dirty="0">
                <a:solidFill>
                  <a:schemeClr val="bg1"/>
                </a:solidFill>
              </a:rPr>
              <a:t>2</a:t>
            </a:r>
            <a:endParaRPr lang="en-US" sz="1600" dirty="0"/>
          </a:p>
        </p:txBody>
      </p:sp>
      <p:sp>
        <p:nvSpPr>
          <p:cNvPr id="25" name="Step 2 label"/>
          <p:cNvSpPr txBox="1"/>
          <p:nvPr/>
        </p:nvSpPr>
        <p:spPr>
          <a:xfrm>
            <a:off x="2148840" y="4114800"/>
            <a:ext cx="1554480" cy="548640"/>
          </a:xfrm>
          <a:prstGeom prst="rect">
            <a:avLst/>
          </a:prstGeom>
          <a:noFill/>
          <a:ln/>
        </p:spPr>
        <p:txBody>
          <a:bodyPr wrap="square" lIns="0" tIns="0" rIns="0" bIns="0" rtlCol="0" anchor="t"/>
          <a:lstStyle/>
          <a:p>
            <a:pPr marL="0" indent="0" algn="ctr">
              <a:buNone/>
            </a:pPr>
            <a:r>
              <a:rPr lang="en-US" sz="1400" dirty="0">
                <a:solidFill>
                  <a:schemeClr val="tx1"/>
                </a:solidFill>
              </a:rPr>
              <a:t>Customer compares</a:t>
            </a:r>
            <a:endParaRPr lang="en-US" sz="1400" dirty="0"/>
          </a:p>
        </p:txBody>
      </p:sp>
      <p:sp>
        <p:nvSpPr>
          <p:cNvPr id="26" name="Step 3 circle"/>
          <p:cNvSpPr/>
          <p:nvPr/>
        </p:nvSpPr>
        <p:spPr>
          <a:xfrm>
            <a:off x="4325112" y="3520440"/>
            <a:ext cx="493776" cy="493776"/>
          </a:xfrm>
          <a:prstGeom prst="ellipse">
            <a:avLst/>
          </a:prstGeom>
          <a:solidFill>
            <a:schemeClr val="tx2"/>
          </a:solidFill>
          <a:ln w="12700">
            <a:solidFill>
              <a:schemeClr val="tx2"/>
            </a:solidFill>
            <a:prstDash val="solid"/>
          </a:ln>
        </p:spPr>
      </p:sp>
      <p:sp>
        <p:nvSpPr>
          <p:cNvPr id="27" name="Step 3 number"/>
          <p:cNvSpPr txBox="1"/>
          <p:nvPr/>
        </p:nvSpPr>
        <p:spPr>
          <a:xfrm>
            <a:off x="4325112" y="3520440"/>
            <a:ext cx="493776" cy="493776"/>
          </a:xfrm>
          <a:prstGeom prst="rect">
            <a:avLst/>
          </a:prstGeom>
          <a:noFill/>
          <a:ln/>
        </p:spPr>
        <p:txBody>
          <a:bodyPr wrap="square" lIns="0" tIns="0" rIns="0" bIns="0" rtlCol="0" anchor="ctr"/>
          <a:lstStyle/>
          <a:p>
            <a:pPr marL="0" indent="0" algn="ctr">
              <a:buNone/>
            </a:pPr>
            <a:r>
              <a:rPr lang="en-US" sz="1600" b="1" dirty="0">
                <a:solidFill>
                  <a:schemeClr val="bg1"/>
                </a:solidFill>
              </a:rPr>
              <a:t>3</a:t>
            </a:r>
            <a:endParaRPr lang="en-US" sz="1600" dirty="0"/>
          </a:p>
        </p:txBody>
      </p:sp>
      <p:sp>
        <p:nvSpPr>
          <p:cNvPr id="28" name="Step 3 label"/>
          <p:cNvSpPr txBox="1"/>
          <p:nvPr/>
        </p:nvSpPr>
        <p:spPr>
          <a:xfrm>
            <a:off x="3794760" y="4114800"/>
            <a:ext cx="1554480" cy="548640"/>
          </a:xfrm>
          <a:prstGeom prst="rect">
            <a:avLst/>
          </a:prstGeom>
          <a:noFill/>
          <a:ln/>
        </p:spPr>
        <p:txBody>
          <a:bodyPr wrap="square" lIns="0" tIns="0" rIns="0" bIns="0" rtlCol="0" anchor="t"/>
          <a:lstStyle/>
          <a:p>
            <a:pPr marL="0" indent="0" algn="ctr">
              <a:buNone/>
            </a:pPr>
            <a:r>
              <a:rPr lang="en-US" sz="1400" dirty="0">
                <a:solidFill>
                  <a:schemeClr val="tx1"/>
                </a:solidFill>
              </a:rPr>
              <a:t>Cart and checkout</a:t>
            </a:r>
            <a:endParaRPr lang="en-US" sz="1400" dirty="0"/>
          </a:p>
        </p:txBody>
      </p:sp>
      <p:sp>
        <p:nvSpPr>
          <p:cNvPr id="29" name="Step 4 circle"/>
          <p:cNvSpPr/>
          <p:nvPr/>
        </p:nvSpPr>
        <p:spPr>
          <a:xfrm>
            <a:off x="5971032" y="3520440"/>
            <a:ext cx="493776" cy="493776"/>
          </a:xfrm>
          <a:prstGeom prst="ellipse">
            <a:avLst/>
          </a:prstGeom>
          <a:solidFill>
            <a:schemeClr val="tx2"/>
          </a:solidFill>
          <a:ln w="12700">
            <a:solidFill>
              <a:schemeClr val="tx2"/>
            </a:solidFill>
            <a:prstDash val="solid"/>
          </a:ln>
        </p:spPr>
      </p:sp>
      <p:sp>
        <p:nvSpPr>
          <p:cNvPr id="30" name="Step 4 number"/>
          <p:cNvSpPr txBox="1"/>
          <p:nvPr/>
        </p:nvSpPr>
        <p:spPr>
          <a:xfrm>
            <a:off x="5971032" y="3520440"/>
            <a:ext cx="493776" cy="493776"/>
          </a:xfrm>
          <a:prstGeom prst="rect">
            <a:avLst/>
          </a:prstGeom>
          <a:noFill/>
          <a:ln/>
        </p:spPr>
        <p:txBody>
          <a:bodyPr wrap="square" lIns="0" tIns="0" rIns="0" bIns="0" rtlCol="0" anchor="ctr"/>
          <a:lstStyle/>
          <a:p>
            <a:pPr marL="0" indent="0" algn="ctr">
              <a:buNone/>
            </a:pPr>
            <a:r>
              <a:rPr lang="en-US" sz="1600" b="1" dirty="0">
                <a:solidFill>
                  <a:schemeClr val="bg1"/>
                </a:solidFill>
              </a:rPr>
              <a:t>4</a:t>
            </a:r>
            <a:endParaRPr lang="en-US" sz="1600" dirty="0"/>
          </a:p>
        </p:txBody>
      </p:sp>
      <p:sp>
        <p:nvSpPr>
          <p:cNvPr id="31" name="Step 4 label"/>
          <p:cNvSpPr txBox="1"/>
          <p:nvPr/>
        </p:nvSpPr>
        <p:spPr>
          <a:xfrm>
            <a:off x="5440680" y="4114800"/>
            <a:ext cx="1554480" cy="548640"/>
          </a:xfrm>
          <a:prstGeom prst="rect">
            <a:avLst/>
          </a:prstGeom>
          <a:noFill/>
          <a:ln/>
        </p:spPr>
        <p:txBody>
          <a:bodyPr wrap="square" lIns="0" tIns="0" rIns="0" bIns="0" rtlCol="0" anchor="t"/>
          <a:lstStyle/>
          <a:p>
            <a:pPr marL="0" indent="0" algn="ctr">
              <a:buNone/>
            </a:pPr>
            <a:r>
              <a:rPr lang="en-US" sz="1400" dirty="0">
                <a:solidFill>
                  <a:schemeClr val="tx1"/>
                </a:solidFill>
              </a:rPr>
              <a:t>Farmer accepts order</a:t>
            </a:r>
            <a:endParaRPr lang="en-US" sz="1400" dirty="0"/>
          </a:p>
        </p:txBody>
      </p:sp>
      <p:sp>
        <p:nvSpPr>
          <p:cNvPr id="32" name="Step 5 circle"/>
          <p:cNvSpPr/>
          <p:nvPr/>
        </p:nvSpPr>
        <p:spPr>
          <a:xfrm>
            <a:off x="7616952" y="3520440"/>
            <a:ext cx="493776" cy="493776"/>
          </a:xfrm>
          <a:prstGeom prst="ellipse">
            <a:avLst/>
          </a:prstGeom>
          <a:solidFill>
            <a:schemeClr val="tx2"/>
          </a:solidFill>
          <a:ln w="12700">
            <a:solidFill>
              <a:schemeClr val="tx2"/>
            </a:solidFill>
            <a:prstDash val="solid"/>
          </a:ln>
        </p:spPr>
      </p:sp>
      <p:sp>
        <p:nvSpPr>
          <p:cNvPr id="33" name="Step 5 number"/>
          <p:cNvSpPr txBox="1"/>
          <p:nvPr/>
        </p:nvSpPr>
        <p:spPr>
          <a:xfrm>
            <a:off x="7616952" y="3520440"/>
            <a:ext cx="493776" cy="493776"/>
          </a:xfrm>
          <a:prstGeom prst="rect">
            <a:avLst/>
          </a:prstGeom>
          <a:noFill/>
          <a:ln/>
        </p:spPr>
        <p:txBody>
          <a:bodyPr wrap="square" lIns="0" tIns="0" rIns="0" bIns="0" rtlCol="0" anchor="ctr"/>
          <a:lstStyle/>
          <a:p>
            <a:pPr marL="0" indent="0" algn="ctr">
              <a:buNone/>
            </a:pPr>
            <a:r>
              <a:rPr lang="en-US" sz="1600" b="1" dirty="0">
                <a:solidFill>
                  <a:schemeClr val="bg1"/>
                </a:solidFill>
              </a:rPr>
              <a:t>5</a:t>
            </a:r>
            <a:endParaRPr lang="en-US" sz="1600" dirty="0"/>
          </a:p>
        </p:txBody>
      </p:sp>
      <p:sp>
        <p:nvSpPr>
          <p:cNvPr id="34" name="Step 5 label"/>
          <p:cNvSpPr txBox="1"/>
          <p:nvPr/>
        </p:nvSpPr>
        <p:spPr>
          <a:xfrm>
            <a:off x="7086600" y="4114800"/>
            <a:ext cx="1554480" cy="548640"/>
          </a:xfrm>
          <a:prstGeom prst="rect">
            <a:avLst/>
          </a:prstGeom>
          <a:noFill/>
          <a:ln/>
        </p:spPr>
        <p:txBody>
          <a:bodyPr wrap="square" lIns="0" tIns="0" rIns="0" bIns="0" rtlCol="0" anchor="t"/>
          <a:lstStyle/>
          <a:p>
            <a:pPr marL="0" indent="0" algn="ctr">
              <a:buNone/>
            </a:pPr>
            <a:r>
              <a:rPr lang="en-US" sz="1400" dirty="0">
                <a:solidFill>
                  <a:schemeClr val="tx1"/>
                </a:solidFill>
              </a:rPr>
              <a:t>Customer tracks it</a:t>
            </a:r>
            <a:endParaRPr lang="en-US" sz="1400" dirty="0"/>
          </a:p>
        </p:txBody>
      </p:sp>
      <p:sp>
        <p:nvSpPr>
          <p:cNvPr id="3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1"/>
                </a:solidFill>
              </a:defRPr>
            </a:lvl1pPr>
          </a:lstStyle>
          <a:p>
            <a:pPr algn="l"/>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400" b="1" dirty="0">
                <a:solidFill>
                  <a:schemeClr val="tx2"/>
                </a:solidFill>
              </a:rPr>
              <a:t>Technology &amp; Algorithm</a:t>
            </a:r>
            <a:endParaRPr lang="en-US" sz="3400" dirty="0"/>
          </a:p>
        </p:txBody>
      </p:sp>
      <p:sp>
        <p:nvSpPr>
          <p:cNvPr id="3" name="Frontend card"/>
          <p:cNvSpPr/>
          <p:nvPr/>
        </p:nvSpPr>
        <p:spPr>
          <a:xfrm>
            <a:off x="457200" y="1188720"/>
            <a:ext cx="3566160" cy="777240"/>
          </a:xfrm>
          <a:prstGeom prst="roundRect">
            <a:avLst>
              <a:gd name="adj" fmla="val 14118"/>
            </a:avLst>
          </a:prstGeom>
          <a:solidFill>
            <a:schemeClr val="bg2"/>
          </a:solidFill>
          <a:ln w="12700">
            <a:solidFill>
              <a:schemeClr val="bg2"/>
            </a:solidFill>
            <a:prstDash val="solid"/>
          </a:ln>
        </p:spPr>
      </p:sp>
      <p:sp>
        <p:nvSpPr>
          <p:cNvPr id="4" name="Frontend label"/>
          <p:cNvSpPr txBox="1"/>
          <p:nvPr/>
        </p:nvSpPr>
        <p:spPr>
          <a:xfrm>
            <a:off x="640080" y="1280160"/>
            <a:ext cx="3200400" cy="274320"/>
          </a:xfrm>
          <a:prstGeom prst="rect">
            <a:avLst/>
          </a:prstGeom>
          <a:noFill/>
          <a:ln/>
        </p:spPr>
        <p:txBody>
          <a:bodyPr wrap="square" lIns="0" tIns="0" rIns="0" bIns="0" rtlCol="0" anchor="t"/>
          <a:lstStyle/>
          <a:p>
            <a:pPr marL="0" indent="0">
              <a:buNone/>
            </a:pPr>
            <a:r>
              <a:rPr lang="en-US" sz="1400" b="1" dirty="0">
                <a:solidFill>
                  <a:schemeClr val="tx2"/>
                </a:solidFill>
              </a:rPr>
              <a:t>Frontend</a:t>
            </a:r>
            <a:endParaRPr lang="en-US" sz="1400" dirty="0"/>
          </a:p>
        </p:txBody>
      </p:sp>
      <p:sp>
        <p:nvSpPr>
          <p:cNvPr id="5" name="Frontend tech"/>
          <p:cNvSpPr txBox="1"/>
          <p:nvPr/>
        </p:nvSpPr>
        <p:spPr>
          <a:xfrm>
            <a:off x="640080" y="1572768"/>
            <a:ext cx="3291840" cy="274320"/>
          </a:xfrm>
          <a:prstGeom prst="rect">
            <a:avLst/>
          </a:prstGeom>
          <a:noFill/>
          <a:ln/>
        </p:spPr>
        <p:txBody>
          <a:bodyPr wrap="square" lIns="0" tIns="0" rIns="0" bIns="0" rtlCol="0" anchor="t"/>
          <a:lstStyle/>
          <a:p>
            <a:pPr marL="0" indent="0">
              <a:buNone/>
            </a:pPr>
            <a:r>
              <a:rPr lang="en-US" sz="1400" dirty="0">
                <a:solidFill>
                  <a:schemeClr val="tx1"/>
                </a:solidFill>
              </a:rPr>
              <a:t>React, Vite, TypeScript, Tailwind</a:t>
            </a:r>
            <a:endParaRPr lang="en-US" sz="1400" dirty="0"/>
          </a:p>
        </p:txBody>
      </p:sp>
      <p:sp>
        <p:nvSpPr>
          <p:cNvPr id="6" name="Backend card"/>
          <p:cNvSpPr/>
          <p:nvPr/>
        </p:nvSpPr>
        <p:spPr>
          <a:xfrm>
            <a:off x="457200" y="2057400"/>
            <a:ext cx="3566160" cy="777240"/>
          </a:xfrm>
          <a:prstGeom prst="roundRect">
            <a:avLst>
              <a:gd name="adj" fmla="val 14118"/>
            </a:avLst>
          </a:prstGeom>
          <a:solidFill>
            <a:schemeClr val="bg2"/>
          </a:solidFill>
          <a:ln w="12700">
            <a:solidFill>
              <a:schemeClr val="bg2"/>
            </a:solidFill>
            <a:prstDash val="solid"/>
          </a:ln>
        </p:spPr>
      </p:sp>
      <p:sp>
        <p:nvSpPr>
          <p:cNvPr id="7" name="Backend label"/>
          <p:cNvSpPr txBox="1"/>
          <p:nvPr/>
        </p:nvSpPr>
        <p:spPr>
          <a:xfrm>
            <a:off x="640080" y="2148840"/>
            <a:ext cx="3200400" cy="274320"/>
          </a:xfrm>
          <a:prstGeom prst="rect">
            <a:avLst/>
          </a:prstGeom>
          <a:noFill/>
          <a:ln/>
        </p:spPr>
        <p:txBody>
          <a:bodyPr wrap="square" lIns="0" tIns="0" rIns="0" bIns="0" rtlCol="0" anchor="t"/>
          <a:lstStyle/>
          <a:p>
            <a:pPr marL="0" indent="0">
              <a:buNone/>
            </a:pPr>
            <a:r>
              <a:rPr lang="en-US" sz="1400" b="1" dirty="0">
                <a:solidFill>
                  <a:schemeClr val="tx2"/>
                </a:solidFill>
              </a:rPr>
              <a:t>Backend</a:t>
            </a:r>
            <a:endParaRPr lang="en-US" sz="1400" dirty="0"/>
          </a:p>
        </p:txBody>
      </p:sp>
      <p:sp>
        <p:nvSpPr>
          <p:cNvPr id="8" name="Backend tech"/>
          <p:cNvSpPr txBox="1"/>
          <p:nvPr/>
        </p:nvSpPr>
        <p:spPr>
          <a:xfrm>
            <a:off x="640080" y="2441448"/>
            <a:ext cx="3291840" cy="274320"/>
          </a:xfrm>
          <a:prstGeom prst="rect">
            <a:avLst/>
          </a:prstGeom>
          <a:noFill/>
          <a:ln/>
        </p:spPr>
        <p:txBody>
          <a:bodyPr wrap="square" lIns="0" tIns="0" rIns="0" bIns="0" rtlCol="0" anchor="t"/>
          <a:lstStyle/>
          <a:p>
            <a:pPr marL="0" indent="0">
              <a:buNone/>
            </a:pPr>
            <a:r>
              <a:rPr lang="en-US" sz="1400" dirty="0">
                <a:solidFill>
                  <a:schemeClr val="tx1"/>
                </a:solidFill>
              </a:rPr>
              <a:t>Node, Express, JWT, bcrypt</a:t>
            </a:r>
            <a:endParaRPr lang="en-US" sz="1400" dirty="0"/>
          </a:p>
        </p:txBody>
      </p:sp>
      <p:sp>
        <p:nvSpPr>
          <p:cNvPr id="9" name="Database card"/>
          <p:cNvSpPr/>
          <p:nvPr/>
        </p:nvSpPr>
        <p:spPr>
          <a:xfrm>
            <a:off x="457200" y="2926080"/>
            <a:ext cx="3566160" cy="777240"/>
          </a:xfrm>
          <a:prstGeom prst="roundRect">
            <a:avLst>
              <a:gd name="adj" fmla="val 14118"/>
            </a:avLst>
          </a:prstGeom>
          <a:solidFill>
            <a:schemeClr val="bg2"/>
          </a:solidFill>
          <a:ln w="12700">
            <a:solidFill>
              <a:schemeClr val="bg2"/>
            </a:solidFill>
            <a:prstDash val="solid"/>
          </a:ln>
        </p:spPr>
      </p:sp>
      <p:sp>
        <p:nvSpPr>
          <p:cNvPr id="10" name="Database label"/>
          <p:cNvSpPr txBox="1"/>
          <p:nvPr/>
        </p:nvSpPr>
        <p:spPr>
          <a:xfrm>
            <a:off x="640080" y="3017520"/>
            <a:ext cx="3200400" cy="274320"/>
          </a:xfrm>
          <a:prstGeom prst="rect">
            <a:avLst/>
          </a:prstGeom>
          <a:noFill/>
          <a:ln/>
        </p:spPr>
        <p:txBody>
          <a:bodyPr wrap="square" lIns="0" tIns="0" rIns="0" bIns="0" rtlCol="0" anchor="t"/>
          <a:lstStyle/>
          <a:p>
            <a:pPr marL="0" indent="0">
              <a:buNone/>
            </a:pPr>
            <a:r>
              <a:rPr lang="en-US" sz="1400" b="1" dirty="0">
                <a:solidFill>
                  <a:schemeClr val="tx2"/>
                </a:solidFill>
              </a:rPr>
              <a:t>Database</a:t>
            </a:r>
            <a:endParaRPr lang="en-US" sz="1400" dirty="0"/>
          </a:p>
        </p:txBody>
      </p:sp>
      <p:sp>
        <p:nvSpPr>
          <p:cNvPr id="11" name="Database tech"/>
          <p:cNvSpPr txBox="1"/>
          <p:nvPr/>
        </p:nvSpPr>
        <p:spPr>
          <a:xfrm>
            <a:off x="640080" y="3310128"/>
            <a:ext cx="3291840" cy="274320"/>
          </a:xfrm>
          <a:prstGeom prst="rect">
            <a:avLst/>
          </a:prstGeom>
          <a:noFill/>
          <a:ln/>
        </p:spPr>
        <p:txBody>
          <a:bodyPr wrap="square" lIns="0" tIns="0" rIns="0" bIns="0" rtlCol="0" anchor="t"/>
          <a:lstStyle/>
          <a:p>
            <a:pPr marL="0" indent="0">
              <a:buNone/>
            </a:pPr>
            <a:r>
              <a:rPr lang="en-US" sz="1400" dirty="0">
                <a:solidFill>
                  <a:schemeClr val="tx1"/>
                </a:solidFill>
              </a:rPr>
              <a:t>MongoDB with Mongoose</a:t>
            </a:r>
            <a:endParaRPr lang="en-US" sz="1400" dirty="0"/>
          </a:p>
        </p:txBody>
      </p:sp>
      <p:sp>
        <p:nvSpPr>
          <p:cNvPr id="12" name="Services card"/>
          <p:cNvSpPr/>
          <p:nvPr/>
        </p:nvSpPr>
        <p:spPr>
          <a:xfrm>
            <a:off x="457200" y="3794760"/>
            <a:ext cx="3566160" cy="777240"/>
          </a:xfrm>
          <a:prstGeom prst="roundRect">
            <a:avLst>
              <a:gd name="adj" fmla="val 14118"/>
            </a:avLst>
          </a:prstGeom>
          <a:solidFill>
            <a:schemeClr val="bg2"/>
          </a:solidFill>
          <a:ln w="12700">
            <a:solidFill>
              <a:schemeClr val="bg2"/>
            </a:solidFill>
            <a:prstDash val="solid"/>
          </a:ln>
        </p:spPr>
      </p:sp>
      <p:sp>
        <p:nvSpPr>
          <p:cNvPr id="13" name="Services label"/>
          <p:cNvSpPr txBox="1"/>
          <p:nvPr/>
        </p:nvSpPr>
        <p:spPr>
          <a:xfrm>
            <a:off x="640080" y="3886200"/>
            <a:ext cx="3200400" cy="274320"/>
          </a:xfrm>
          <a:prstGeom prst="rect">
            <a:avLst/>
          </a:prstGeom>
          <a:noFill/>
          <a:ln/>
        </p:spPr>
        <p:txBody>
          <a:bodyPr wrap="square" lIns="0" tIns="0" rIns="0" bIns="0" rtlCol="0" anchor="t"/>
          <a:lstStyle/>
          <a:p>
            <a:pPr marL="0" indent="0">
              <a:buNone/>
            </a:pPr>
            <a:r>
              <a:rPr lang="en-US" sz="1400" b="1" dirty="0">
                <a:solidFill>
                  <a:schemeClr val="tx2"/>
                </a:solidFill>
              </a:rPr>
              <a:t>Services</a:t>
            </a:r>
            <a:endParaRPr lang="en-US" sz="1400" dirty="0"/>
          </a:p>
        </p:txBody>
      </p:sp>
      <p:sp>
        <p:nvSpPr>
          <p:cNvPr id="14" name="Services tech"/>
          <p:cNvSpPr txBox="1"/>
          <p:nvPr/>
        </p:nvSpPr>
        <p:spPr>
          <a:xfrm>
            <a:off x="640080" y="4178808"/>
            <a:ext cx="3291840" cy="274320"/>
          </a:xfrm>
          <a:prstGeom prst="rect">
            <a:avLst/>
          </a:prstGeom>
          <a:noFill/>
          <a:ln/>
        </p:spPr>
        <p:txBody>
          <a:bodyPr wrap="square" lIns="0" tIns="0" rIns="0" bIns="0" rtlCol="0" anchor="t"/>
          <a:lstStyle/>
          <a:p>
            <a:pPr marL="0" indent="0">
              <a:buNone/>
            </a:pPr>
            <a:r>
              <a:rPr lang="en-US" sz="1400" dirty="0">
                <a:solidFill>
                  <a:schemeClr val="tx1"/>
                </a:solidFill>
              </a:rPr>
              <a:t>Web Speech API, Leaflet, Cloudinary</a:t>
            </a:r>
            <a:endParaRPr lang="en-US" sz="1400" dirty="0"/>
          </a:p>
        </p:txBody>
      </p:sp>
      <p:graphicFrame>
        <p:nvGraphicFramePr>
          <p:cNvPr id="15" name="Algorithm table"/>
          <p:cNvGraphicFramePr>
            <a:graphicFrameLocks noGrp="1"/>
          </p:cNvGraphicFramePr>
          <p:nvPr>
            <p:extLst>
              <p:ext uri="{D42A27DB-BD31-4B8C-83A1-F6EECF244321}">
                <p14:modId xmlns:p14="http://schemas.microsoft.com/office/powerpoint/2010/main" val="1579011935"/>
              </p:ext>
            </p:extLst>
          </p:nvPr>
        </p:nvGraphicFramePr>
        <p:xfrm>
          <a:off x="4297680" y="1188720"/>
          <a:ext cx="4389120" cy="2971800"/>
        </p:xfrm>
        <a:graphic>
          <a:graphicData uri="http://schemas.openxmlformats.org/drawingml/2006/table">
            <a:tbl>
              <a:tblPr/>
              <a:tblGrid>
                <a:gridCol w="146304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tblGrid>
              <a:tr h="411480">
                <a:tc>
                  <a:txBody>
                    <a:bodyPr/>
                    <a:lstStyle/>
                    <a:p>
                      <a:pPr marL="0" indent="0">
                        <a:buNone/>
                      </a:pPr>
                      <a:r>
                        <a:rPr lang="en-US" sz="1400" b="1" dirty="0">
                          <a:solidFill>
                            <a:schemeClr val="bg1"/>
                          </a:solidFill>
                        </a:rPr>
                        <a:t>Algorithm</a:t>
                      </a:r>
                      <a:endParaRPr lang="en-US" sz="1400" dirty="0"/>
                    </a:p>
                  </a:txBody>
                  <a:tcPr marL="73152" marR="73152" marT="36576" marB="36576" anchor="ctr">
                    <a:lnL w="6350" cap="flat" cmpd="sng" algn="ctr">
                      <a:solidFill>
                        <a:srgbClr val="C9E4C0"/>
                      </a:solidFill>
                      <a:prstDash val="solid"/>
                      <a:round/>
                      <a:headEnd type="none" w="med" len="med"/>
                      <a:tailEnd type="none" w="med" len="med"/>
                    </a:lnL>
                    <a:lnR w="6350" cap="flat" cmpd="sng" algn="ctr">
                      <a:solidFill>
                        <a:srgbClr val="C9E4C0"/>
                      </a:solidFill>
                      <a:prstDash val="solid"/>
                      <a:round/>
                      <a:headEnd type="none" w="med" len="med"/>
                      <a:tailEnd type="none" w="med" len="med"/>
                    </a:lnR>
                    <a:lnT w="6350" cap="flat" cmpd="sng" algn="ctr">
                      <a:solidFill>
                        <a:srgbClr val="C9E4C0"/>
                      </a:solidFill>
                      <a:prstDash val="solid"/>
                      <a:round/>
                      <a:headEnd type="none" w="med" len="med"/>
                      <a:tailEnd type="none" w="med" len="med"/>
                    </a:lnT>
                    <a:lnB w="6350" cap="flat" cmpd="sng" algn="ctr">
                      <a:solidFill>
                        <a:srgbClr val="C9E4C0"/>
                      </a:solidFill>
                      <a:prstDash val="solid"/>
                      <a:round/>
                      <a:headEnd type="none" w="med" len="med"/>
                      <a:tailEnd type="none" w="med" len="med"/>
                    </a:lnB>
                    <a:solidFill>
                      <a:schemeClr val="tx2"/>
                    </a:solidFill>
                  </a:tcPr>
                </a:tc>
                <a:tc>
                  <a:txBody>
                    <a:bodyPr/>
                    <a:lstStyle/>
                    <a:p>
                      <a:pPr marL="0" indent="0">
                        <a:buNone/>
                      </a:pPr>
                      <a:r>
                        <a:rPr lang="en-US" sz="1400" b="1" dirty="0">
                          <a:solidFill>
                            <a:schemeClr val="bg1"/>
                          </a:solidFill>
                        </a:rPr>
                        <a:t>Why chosen</a:t>
                      </a:r>
                      <a:endParaRPr lang="en-US" sz="1400" dirty="0"/>
                    </a:p>
                  </a:txBody>
                  <a:tcPr marL="73152" marR="73152" marT="36576" marB="36576" anchor="ctr">
                    <a:lnL w="6350" cap="flat" cmpd="sng" algn="ctr">
                      <a:solidFill>
                        <a:srgbClr val="C9E4C0"/>
                      </a:solidFill>
                      <a:prstDash val="solid"/>
                      <a:round/>
                      <a:headEnd type="none" w="med" len="med"/>
                      <a:tailEnd type="none" w="med" len="med"/>
                    </a:lnL>
                    <a:lnR w="6350" cap="flat" cmpd="sng" algn="ctr">
                      <a:solidFill>
                        <a:srgbClr val="C9E4C0"/>
                      </a:solidFill>
                      <a:prstDash val="solid"/>
                      <a:round/>
                      <a:headEnd type="none" w="med" len="med"/>
                      <a:tailEnd type="none" w="med" len="med"/>
                    </a:lnR>
                    <a:lnT w="6350" cap="flat" cmpd="sng" algn="ctr">
                      <a:solidFill>
                        <a:srgbClr val="C9E4C0"/>
                      </a:solidFill>
                      <a:prstDash val="solid"/>
                      <a:round/>
                      <a:headEnd type="none" w="med" len="med"/>
                      <a:tailEnd type="none" w="med" len="med"/>
                    </a:lnT>
                    <a:lnB w="6350" cap="flat" cmpd="sng" algn="ctr">
                      <a:solidFill>
                        <a:srgbClr val="C9E4C0"/>
                      </a:solidFill>
                      <a:prstDash val="solid"/>
                      <a:round/>
                      <a:headEnd type="none" w="med" len="med"/>
                      <a:tailEnd type="none" w="med" len="med"/>
                    </a:lnB>
                    <a:solidFill>
                      <a:schemeClr val="tx2"/>
                    </a:solidFill>
                  </a:tcPr>
                </a:tc>
                <a:tc>
                  <a:txBody>
                    <a:bodyPr/>
                    <a:lstStyle/>
                    <a:p>
                      <a:pPr marL="0" indent="0">
                        <a:buNone/>
                      </a:pPr>
                      <a:r>
                        <a:rPr lang="en-US" sz="1400" b="1" dirty="0">
                          <a:solidFill>
                            <a:schemeClr val="bg1"/>
                          </a:solidFill>
                        </a:rPr>
                        <a:t>Cost</a:t>
                      </a:r>
                      <a:endParaRPr lang="en-US" sz="1400" dirty="0"/>
                    </a:p>
                  </a:txBody>
                  <a:tcPr marL="73152" marR="73152" marT="36576" marB="36576" anchor="ctr">
                    <a:lnL w="6350" cap="flat" cmpd="sng" algn="ctr">
                      <a:solidFill>
                        <a:srgbClr val="C9E4C0"/>
                      </a:solidFill>
                      <a:prstDash val="solid"/>
                      <a:round/>
                      <a:headEnd type="none" w="med" len="med"/>
                      <a:tailEnd type="none" w="med" len="med"/>
                    </a:lnL>
                    <a:lnR w="6350" cap="flat" cmpd="sng" algn="ctr">
                      <a:solidFill>
                        <a:srgbClr val="C9E4C0"/>
                      </a:solidFill>
                      <a:prstDash val="solid"/>
                      <a:round/>
                      <a:headEnd type="none" w="med" len="med"/>
                      <a:tailEnd type="none" w="med" len="med"/>
                    </a:lnR>
                    <a:lnT w="6350" cap="flat" cmpd="sng" algn="ctr">
                      <a:solidFill>
                        <a:srgbClr val="C9E4C0"/>
                      </a:solidFill>
                      <a:prstDash val="solid"/>
                      <a:round/>
                      <a:headEnd type="none" w="med" len="med"/>
                      <a:tailEnd type="none" w="med" len="med"/>
                    </a:lnT>
                    <a:lnB w="6350" cap="flat" cmpd="sng" algn="ctr">
                      <a:solidFill>
                        <a:srgbClr val="C9E4C0"/>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640080">
                <a:tc>
                  <a:txBody>
                    <a:bodyPr/>
                    <a:lstStyle/>
                    <a:p>
                      <a:pPr marL="0" indent="0">
                        <a:buNone/>
                      </a:pPr>
                      <a:r>
                        <a:rPr lang="en-US" sz="1400" b="1" dirty="0">
                          <a:solidFill>
                            <a:schemeClr val="tx1"/>
                          </a:solidFill>
                        </a:rPr>
                        <a:t>Unit normalization</a:t>
                      </a:r>
                      <a:endParaRPr lang="en-US" sz="1400" dirty="0"/>
                    </a:p>
                  </a:txBody>
                  <a:tcPr marL="73152" marR="73152" marT="36576" marB="36576" anchor="ctr">
                    <a:lnL w="6350" cap="flat" cmpd="sng" algn="ctr">
                      <a:solidFill>
                        <a:srgbClr val="C9E4C0"/>
                      </a:solidFill>
                      <a:prstDash val="solid"/>
                      <a:round/>
                      <a:headEnd type="none" w="med" len="med"/>
                      <a:tailEnd type="none" w="med" len="med"/>
                    </a:lnL>
                    <a:lnR w="6350" cap="flat" cmpd="sng" algn="ctr">
                      <a:solidFill>
                        <a:srgbClr val="C9E4C0"/>
                      </a:solidFill>
                      <a:prstDash val="solid"/>
                      <a:round/>
                      <a:headEnd type="none" w="med" len="med"/>
                      <a:tailEnd type="none" w="med" len="med"/>
                    </a:lnR>
                    <a:lnT w="6350" cap="flat" cmpd="sng" algn="ctr">
                      <a:solidFill>
                        <a:srgbClr val="C9E4C0"/>
                      </a:solidFill>
                      <a:prstDash val="solid"/>
                      <a:round/>
                      <a:headEnd type="none" w="med" len="med"/>
                      <a:tailEnd type="none" w="med" len="med"/>
                    </a:lnT>
                    <a:lnB w="6350" cap="flat" cmpd="sng" algn="ctr">
                      <a:solidFill>
                        <a:srgbClr val="C9E4C0"/>
                      </a:solidFill>
                      <a:prstDash val="solid"/>
                      <a:round/>
                      <a:headEnd type="none" w="med" len="med"/>
                      <a:tailEnd type="none" w="med" len="med"/>
                    </a:lnB>
                  </a:tcPr>
                </a:tc>
                <a:tc>
                  <a:txBody>
                    <a:bodyPr/>
                    <a:lstStyle/>
                    <a:p>
                      <a:pPr marL="0" indent="0">
                        <a:buNone/>
                      </a:pPr>
                      <a:r>
                        <a:rPr lang="en-US" sz="1400" dirty="0">
                          <a:solidFill>
                            <a:schemeClr val="tx1"/>
                          </a:solidFill>
                        </a:rPr>
                        <a:t>Compare kg, g, L fairly</a:t>
                      </a:r>
                      <a:endParaRPr lang="en-US" sz="1400" dirty="0"/>
                    </a:p>
                  </a:txBody>
                  <a:tcPr marL="73152" marR="73152" marT="36576" marB="36576" anchor="ctr">
                    <a:lnL w="6350" cap="flat" cmpd="sng" algn="ctr">
                      <a:solidFill>
                        <a:srgbClr val="C9E4C0"/>
                      </a:solidFill>
                      <a:prstDash val="solid"/>
                      <a:round/>
                      <a:headEnd type="none" w="med" len="med"/>
                      <a:tailEnd type="none" w="med" len="med"/>
                    </a:lnL>
                    <a:lnR w="6350" cap="flat" cmpd="sng" algn="ctr">
                      <a:solidFill>
                        <a:srgbClr val="C9E4C0"/>
                      </a:solidFill>
                      <a:prstDash val="solid"/>
                      <a:round/>
                      <a:headEnd type="none" w="med" len="med"/>
                      <a:tailEnd type="none" w="med" len="med"/>
                    </a:lnR>
                    <a:lnT w="6350" cap="flat" cmpd="sng" algn="ctr">
                      <a:solidFill>
                        <a:srgbClr val="C9E4C0"/>
                      </a:solidFill>
                      <a:prstDash val="solid"/>
                      <a:round/>
                      <a:headEnd type="none" w="med" len="med"/>
                      <a:tailEnd type="none" w="med" len="med"/>
                    </a:lnT>
                    <a:lnB w="6350" cap="flat" cmpd="sng" algn="ctr">
                      <a:solidFill>
                        <a:srgbClr val="C9E4C0"/>
                      </a:solidFill>
                      <a:prstDash val="solid"/>
                      <a:round/>
                      <a:headEnd type="none" w="med" len="med"/>
                      <a:tailEnd type="none" w="med" len="med"/>
                    </a:lnB>
                  </a:tcPr>
                </a:tc>
                <a:tc>
                  <a:txBody>
                    <a:bodyPr/>
                    <a:lstStyle/>
                    <a:p>
                      <a:pPr marL="0" indent="0">
                        <a:buNone/>
                      </a:pPr>
                      <a:r>
                        <a:rPr lang="en-US" sz="1400" dirty="0">
                          <a:solidFill>
                            <a:schemeClr val="tx1"/>
                          </a:solidFill>
                        </a:rPr>
                        <a:t>O(1)</a:t>
                      </a:r>
                      <a:endParaRPr lang="en-US" sz="1400" dirty="0"/>
                    </a:p>
                  </a:txBody>
                  <a:tcPr marL="73152" marR="73152" marT="36576" marB="36576" anchor="ctr">
                    <a:lnL w="6350" cap="flat" cmpd="sng" algn="ctr">
                      <a:solidFill>
                        <a:srgbClr val="C9E4C0"/>
                      </a:solidFill>
                      <a:prstDash val="solid"/>
                      <a:round/>
                      <a:headEnd type="none" w="med" len="med"/>
                      <a:tailEnd type="none" w="med" len="med"/>
                    </a:lnL>
                    <a:lnR w="6350" cap="flat" cmpd="sng" algn="ctr">
                      <a:solidFill>
                        <a:srgbClr val="C9E4C0"/>
                      </a:solidFill>
                      <a:prstDash val="solid"/>
                      <a:round/>
                      <a:headEnd type="none" w="med" len="med"/>
                      <a:tailEnd type="none" w="med" len="med"/>
                    </a:lnR>
                    <a:lnT w="6350" cap="flat" cmpd="sng" algn="ctr">
                      <a:solidFill>
                        <a:srgbClr val="C9E4C0"/>
                      </a:solidFill>
                      <a:prstDash val="solid"/>
                      <a:round/>
                      <a:headEnd type="none" w="med" len="med"/>
                      <a:tailEnd type="none" w="med" len="med"/>
                    </a:lnT>
                    <a:lnB w="6350" cap="flat" cmpd="sng" algn="ctr">
                      <a:solidFill>
                        <a:srgbClr val="C9E4C0"/>
                      </a:solidFill>
                      <a:prstDash val="solid"/>
                      <a:round/>
                      <a:headEnd type="none" w="med" len="med"/>
                      <a:tailEnd type="none" w="med" len="med"/>
                    </a:lnB>
                  </a:tcPr>
                </a:tc>
                <a:extLst>
                  <a:ext uri="{0D108BD9-81ED-4DB2-BD59-A6C34878D82A}">
                    <a16:rowId xmlns:a16="http://schemas.microsoft.com/office/drawing/2014/main" val="10001"/>
                  </a:ext>
                </a:extLst>
              </a:tr>
              <a:tr h="640080">
                <a:tc>
                  <a:txBody>
                    <a:bodyPr/>
                    <a:lstStyle/>
                    <a:p>
                      <a:pPr marL="0" indent="0">
                        <a:buNone/>
                      </a:pPr>
                      <a:r>
                        <a:rPr lang="en-US" sz="1400" b="1" dirty="0">
                          <a:solidFill>
                            <a:schemeClr val="tx1"/>
                          </a:solidFill>
                        </a:rPr>
                        <a:t>Total-cost ranking</a:t>
                      </a:r>
                      <a:endParaRPr lang="en-US" sz="1400" dirty="0"/>
                    </a:p>
                  </a:txBody>
                  <a:tcPr marL="73152" marR="73152" marT="36576" marB="36576" anchor="ctr">
                    <a:lnL w="6350" cap="flat" cmpd="sng" algn="ctr">
                      <a:solidFill>
                        <a:srgbClr val="C9E4C0"/>
                      </a:solidFill>
                      <a:prstDash val="solid"/>
                      <a:round/>
                      <a:headEnd type="none" w="med" len="med"/>
                      <a:tailEnd type="none" w="med" len="med"/>
                    </a:lnL>
                    <a:lnR w="6350" cap="flat" cmpd="sng" algn="ctr">
                      <a:solidFill>
                        <a:srgbClr val="C9E4C0"/>
                      </a:solidFill>
                      <a:prstDash val="solid"/>
                      <a:round/>
                      <a:headEnd type="none" w="med" len="med"/>
                      <a:tailEnd type="none" w="med" len="med"/>
                    </a:lnR>
                    <a:lnT w="6350" cap="flat" cmpd="sng" algn="ctr">
                      <a:solidFill>
                        <a:srgbClr val="C9E4C0"/>
                      </a:solidFill>
                      <a:prstDash val="solid"/>
                      <a:round/>
                      <a:headEnd type="none" w="med" len="med"/>
                      <a:tailEnd type="none" w="med" len="med"/>
                    </a:lnT>
                    <a:lnB w="6350" cap="flat" cmpd="sng" algn="ctr">
                      <a:solidFill>
                        <a:srgbClr val="C9E4C0"/>
                      </a:solidFill>
                      <a:prstDash val="solid"/>
                      <a:round/>
                      <a:headEnd type="none" w="med" len="med"/>
                      <a:tailEnd type="none" w="med" len="med"/>
                    </a:lnB>
                  </a:tcPr>
                </a:tc>
                <a:tc>
                  <a:txBody>
                    <a:bodyPr/>
                    <a:lstStyle/>
                    <a:p>
                      <a:pPr marL="0" indent="0">
                        <a:buNone/>
                      </a:pPr>
                      <a:r>
                        <a:rPr lang="en-US" sz="1400" dirty="0">
                          <a:solidFill>
                            <a:schemeClr val="tx1"/>
                          </a:solidFill>
                        </a:rPr>
                        <a:t>Price x qty + delivery, sorted</a:t>
                      </a:r>
                      <a:endParaRPr lang="en-US" sz="1400" dirty="0"/>
                    </a:p>
                  </a:txBody>
                  <a:tcPr marL="73152" marR="73152" marT="36576" marB="36576" anchor="ctr">
                    <a:lnL w="6350" cap="flat" cmpd="sng" algn="ctr">
                      <a:solidFill>
                        <a:srgbClr val="C9E4C0"/>
                      </a:solidFill>
                      <a:prstDash val="solid"/>
                      <a:round/>
                      <a:headEnd type="none" w="med" len="med"/>
                      <a:tailEnd type="none" w="med" len="med"/>
                    </a:lnL>
                    <a:lnR w="6350" cap="flat" cmpd="sng" algn="ctr">
                      <a:solidFill>
                        <a:srgbClr val="C9E4C0"/>
                      </a:solidFill>
                      <a:prstDash val="solid"/>
                      <a:round/>
                      <a:headEnd type="none" w="med" len="med"/>
                      <a:tailEnd type="none" w="med" len="med"/>
                    </a:lnR>
                    <a:lnT w="6350" cap="flat" cmpd="sng" algn="ctr">
                      <a:solidFill>
                        <a:srgbClr val="C9E4C0"/>
                      </a:solidFill>
                      <a:prstDash val="solid"/>
                      <a:round/>
                      <a:headEnd type="none" w="med" len="med"/>
                      <a:tailEnd type="none" w="med" len="med"/>
                    </a:lnT>
                    <a:lnB w="6350" cap="flat" cmpd="sng" algn="ctr">
                      <a:solidFill>
                        <a:srgbClr val="C9E4C0"/>
                      </a:solidFill>
                      <a:prstDash val="solid"/>
                      <a:round/>
                      <a:headEnd type="none" w="med" len="med"/>
                      <a:tailEnd type="none" w="med" len="med"/>
                    </a:lnB>
                  </a:tcPr>
                </a:tc>
                <a:tc>
                  <a:txBody>
                    <a:bodyPr/>
                    <a:lstStyle/>
                    <a:p>
                      <a:pPr marL="0" indent="0">
                        <a:buNone/>
                      </a:pPr>
                      <a:r>
                        <a:rPr lang="en-US" sz="1400" dirty="0">
                          <a:solidFill>
                            <a:schemeClr val="tx1"/>
                          </a:solidFill>
                        </a:rPr>
                        <a:t>O(n log n)</a:t>
                      </a:r>
                      <a:endParaRPr lang="en-US" sz="1400" dirty="0"/>
                    </a:p>
                  </a:txBody>
                  <a:tcPr marL="73152" marR="73152" marT="36576" marB="36576" anchor="ctr">
                    <a:lnL w="6350" cap="flat" cmpd="sng" algn="ctr">
                      <a:solidFill>
                        <a:srgbClr val="C9E4C0"/>
                      </a:solidFill>
                      <a:prstDash val="solid"/>
                      <a:round/>
                      <a:headEnd type="none" w="med" len="med"/>
                      <a:tailEnd type="none" w="med" len="med"/>
                    </a:lnL>
                    <a:lnR w="6350" cap="flat" cmpd="sng" algn="ctr">
                      <a:solidFill>
                        <a:srgbClr val="C9E4C0"/>
                      </a:solidFill>
                      <a:prstDash val="solid"/>
                      <a:round/>
                      <a:headEnd type="none" w="med" len="med"/>
                      <a:tailEnd type="none" w="med" len="med"/>
                    </a:lnR>
                    <a:lnT w="6350" cap="flat" cmpd="sng" algn="ctr">
                      <a:solidFill>
                        <a:srgbClr val="C9E4C0"/>
                      </a:solidFill>
                      <a:prstDash val="solid"/>
                      <a:round/>
                      <a:headEnd type="none" w="med" len="med"/>
                      <a:tailEnd type="none" w="med" len="med"/>
                    </a:lnT>
                    <a:lnB w="6350" cap="flat" cmpd="sng" algn="ctr">
                      <a:solidFill>
                        <a:srgbClr val="C9E4C0"/>
                      </a:solidFill>
                      <a:prstDash val="solid"/>
                      <a:round/>
                      <a:headEnd type="none" w="med" len="med"/>
                      <a:tailEnd type="none" w="med" len="med"/>
                    </a:lnB>
                  </a:tcPr>
                </a:tc>
                <a:extLst>
                  <a:ext uri="{0D108BD9-81ED-4DB2-BD59-A6C34878D82A}">
                    <a16:rowId xmlns:a16="http://schemas.microsoft.com/office/drawing/2014/main" val="10002"/>
                  </a:ext>
                </a:extLst>
              </a:tr>
              <a:tr h="640080">
                <a:tc>
                  <a:txBody>
                    <a:bodyPr/>
                    <a:lstStyle/>
                    <a:p>
                      <a:pPr marL="0" indent="0">
                        <a:buNone/>
                      </a:pPr>
                      <a:r>
                        <a:rPr lang="en-US" sz="1400" b="1" dirty="0">
                          <a:solidFill>
                            <a:schemeClr val="tx1"/>
                          </a:solidFill>
                        </a:rPr>
                        <a:t>Voice intent match</a:t>
                      </a:r>
                      <a:endParaRPr lang="en-US" sz="1400" dirty="0"/>
                    </a:p>
                  </a:txBody>
                  <a:tcPr marL="73152" marR="73152" marT="36576" marB="36576" anchor="ctr">
                    <a:lnL w="6350" cap="flat" cmpd="sng" algn="ctr">
                      <a:solidFill>
                        <a:srgbClr val="C9E4C0"/>
                      </a:solidFill>
                      <a:prstDash val="solid"/>
                      <a:round/>
                      <a:headEnd type="none" w="med" len="med"/>
                      <a:tailEnd type="none" w="med" len="med"/>
                    </a:lnL>
                    <a:lnR w="6350" cap="flat" cmpd="sng" algn="ctr">
                      <a:solidFill>
                        <a:srgbClr val="C9E4C0"/>
                      </a:solidFill>
                      <a:prstDash val="solid"/>
                      <a:round/>
                      <a:headEnd type="none" w="med" len="med"/>
                      <a:tailEnd type="none" w="med" len="med"/>
                    </a:lnR>
                    <a:lnT w="6350" cap="flat" cmpd="sng" algn="ctr">
                      <a:solidFill>
                        <a:srgbClr val="C9E4C0"/>
                      </a:solidFill>
                      <a:prstDash val="solid"/>
                      <a:round/>
                      <a:headEnd type="none" w="med" len="med"/>
                      <a:tailEnd type="none" w="med" len="med"/>
                    </a:lnT>
                    <a:lnB w="6350" cap="flat" cmpd="sng" algn="ctr">
                      <a:solidFill>
                        <a:srgbClr val="C9E4C0"/>
                      </a:solidFill>
                      <a:prstDash val="solid"/>
                      <a:round/>
                      <a:headEnd type="none" w="med" len="med"/>
                      <a:tailEnd type="none" w="med" len="med"/>
                    </a:lnB>
                  </a:tcPr>
                </a:tc>
                <a:tc>
                  <a:txBody>
                    <a:bodyPr/>
                    <a:lstStyle/>
                    <a:p>
                      <a:pPr marL="0" indent="0">
                        <a:buNone/>
                      </a:pPr>
                      <a:r>
                        <a:rPr lang="en-US" sz="1400" dirty="0">
                          <a:solidFill>
                            <a:schemeClr val="tx1"/>
                          </a:solidFill>
                        </a:rPr>
                        <a:t>Only safe preset actions</a:t>
                      </a:r>
                      <a:endParaRPr lang="en-US" sz="1400" dirty="0"/>
                    </a:p>
                  </a:txBody>
                  <a:tcPr marL="73152" marR="73152" marT="36576" marB="36576" anchor="ctr">
                    <a:lnL w="6350" cap="flat" cmpd="sng" algn="ctr">
                      <a:solidFill>
                        <a:srgbClr val="C9E4C0"/>
                      </a:solidFill>
                      <a:prstDash val="solid"/>
                      <a:round/>
                      <a:headEnd type="none" w="med" len="med"/>
                      <a:tailEnd type="none" w="med" len="med"/>
                    </a:lnL>
                    <a:lnR w="6350" cap="flat" cmpd="sng" algn="ctr">
                      <a:solidFill>
                        <a:srgbClr val="C9E4C0"/>
                      </a:solidFill>
                      <a:prstDash val="solid"/>
                      <a:round/>
                      <a:headEnd type="none" w="med" len="med"/>
                      <a:tailEnd type="none" w="med" len="med"/>
                    </a:lnR>
                    <a:lnT w="6350" cap="flat" cmpd="sng" algn="ctr">
                      <a:solidFill>
                        <a:srgbClr val="C9E4C0"/>
                      </a:solidFill>
                      <a:prstDash val="solid"/>
                      <a:round/>
                      <a:headEnd type="none" w="med" len="med"/>
                      <a:tailEnd type="none" w="med" len="med"/>
                    </a:lnT>
                    <a:lnB w="6350" cap="flat" cmpd="sng" algn="ctr">
                      <a:solidFill>
                        <a:srgbClr val="C9E4C0"/>
                      </a:solidFill>
                      <a:prstDash val="solid"/>
                      <a:round/>
                      <a:headEnd type="none" w="med" len="med"/>
                      <a:tailEnd type="none" w="med" len="med"/>
                    </a:lnB>
                  </a:tcPr>
                </a:tc>
                <a:tc>
                  <a:txBody>
                    <a:bodyPr/>
                    <a:lstStyle/>
                    <a:p>
                      <a:pPr marL="0" indent="0">
                        <a:buNone/>
                      </a:pPr>
                      <a:r>
                        <a:rPr lang="en-US" sz="1400" dirty="0">
                          <a:solidFill>
                            <a:schemeClr val="tx1"/>
                          </a:solidFill>
                        </a:rPr>
                        <a:t>O(k)</a:t>
                      </a:r>
                      <a:endParaRPr lang="en-US" sz="1400" dirty="0"/>
                    </a:p>
                  </a:txBody>
                  <a:tcPr marL="73152" marR="73152" marT="36576" marB="36576" anchor="ctr">
                    <a:lnL w="6350" cap="flat" cmpd="sng" algn="ctr">
                      <a:solidFill>
                        <a:srgbClr val="C9E4C0"/>
                      </a:solidFill>
                      <a:prstDash val="solid"/>
                      <a:round/>
                      <a:headEnd type="none" w="med" len="med"/>
                      <a:tailEnd type="none" w="med" len="med"/>
                    </a:lnL>
                    <a:lnR w="6350" cap="flat" cmpd="sng" algn="ctr">
                      <a:solidFill>
                        <a:srgbClr val="C9E4C0"/>
                      </a:solidFill>
                      <a:prstDash val="solid"/>
                      <a:round/>
                      <a:headEnd type="none" w="med" len="med"/>
                      <a:tailEnd type="none" w="med" len="med"/>
                    </a:lnR>
                    <a:lnT w="6350" cap="flat" cmpd="sng" algn="ctr">
                      <a:solidFill>
                        <a:srgbClr val="C9E4C0"/>
                      </a:solidFill>
                      <a:prstDash val="solid"/>
                      <a:round/>
                      <a:headEnd type="none" w="med" len="med"/>
                      <a:tailEnd type="none" w="med" len="med"/>
                    </a:lnT>
                    <a:lnB w="6350" cap="flat" cmpd="sng" algn="ctr">
                      <a:solidFill>
                        <a:srgbClr val="C9E4C0"/>
                      </a:solidFill>
                      <a:prstDash val="solid"/>
                      <a:round/>
                      <a:headEnd type="none" w="med" len="med"/>
                      <a:tailEnd type="none" w="med" len="med"/>
                    </a:lnB>
                  </a:tcPr>
                </a:tc>
                <a:extLst>
                  <a:ext uri="{0D108BD9-81ED-4DB2-BD59-A6C34878D82A}">
                    <a16:rowId xmlns:a16="http://schemas.microsoft.com/office/drawing/2014/main" val="10003"/>
                  </a:ext>
                </a:extLst>
              </a:tr>
              <a:tr h="640080">
                <a:tc>
                  <a:txBody>
                    <a:bodyPr/>
                    <a:lstStyle/>
                    <a:p>
                      <a:pPr marL="0" indent="0">
                        <a:buNone/>
                      </a:pPr>
                      <a:r>
                        <a:rPr lang="en-US" sz="1400" b="1" dirty="0">
                          <a:solidFill>
                            <a:schemeClr val="tx1"/>
                          </a:solidFill>
                        </a:rPr>
                        <a:t>Atomic stock update</a:t>
                      </a:r>
                      <a:endParaRPr lang="en-US" sz="1400" dirty="0"/>
                    </a:p>
                  </a:txBody>
                  <a:tcPr marL="73152" marR="73152" marT="36576" marB="36576" anchor="ctr">
                    <a:lnL w="6350" cap="flat" cmpd="sng" algn="ctr">
                      <a:solidFill>
                        <a:srgbClr val="C9E4C0"/>
                      </a:solidFill>
                      <a:prstDash val="solid"/>
                      <a:round/>
                      <a:headEnd type="none" w="med" len="med"/>
                      <a:tailEnd type="none" w="med" len="med"/>
                    </a:lnL>
                    <a:lnR w="6350" cap="flat" cmpd="sng" algn="ctr">
                      <a:solidFill>
                        <a:srgbClr val="C9E4C0"/>
                      </a:solidFill>
                      <a:prstDash val="solid"/>
                      <a:round/>
                      <a:headEnd type="none" w="med" len="med"/>
                      <a:tailEnd type="none" w="med" len="med"/>
                    </a:lnR>
                    <a:lnT w="6350" cap="flat" cmpd="sng" algn="ctr">
                      <a:solidFill>
                        <a:srgbClr val="C9E4C0"/>
                      </a:solidFill>
                      <a:prstDash val="solid"/>
                      <a:round/>
                      <a:headEnd type="none" w="med" len="med"/>
                      <a:tailEnd type="none" w="med" len="med"/>
                    </a:lnT>
                    <a:lnB w="6350" cap="flat" cmpd="sng" algn="ctr">
                      <a:solidFill>
                        <a:srgbClr val="C9E4C0"/>
                      </a:solidFill>
                      <a:prstDash val="solid"/>
                      <a:round/>
                      <a:headEnd type="none" w="med" len="med"/>
                      <a:tailEnd type="none" w="med" len="med"/>
                    </a:lnB>
                  </a:tcPr>
                </a:tc>
                <a:tc>
                  <a:txBody>
                    <a:bodyPr/>
                    <a:lstStyle/>
                    <a:p>
                      <a:pPr marL="0" indent="0">
                        <a:buNone/>
                      </a:pPr>
                      <a:r>
                        <a:rPr lang="en-US" sz="1400" dirty="0">
                          <a:solidFill>
                            <a:schemeClr val="tx1"/>
                          </a:solidFill>
                        </a:rPr>
                        <a:t>Prevents overselling</a:t>
                      </a:r>
                      <a:endParaRPr lang="en-US" sz="1400" dirty="0"/>
                    </a:p>
                  </a:txBody>
                  <a:tcPr marL="73152" marR="73152" marT="36576" marB="36576" anchor="ctr">
                    <a:lnL w="6350" cap="flat" cmpd="sng" algn="ctr">
                      <a:solidFill>
                        <a:srgbClr val="C9E4C0"/>
                      </a:solidFill>
                      <a:prstDash val="solid"/>
                      <a:round/>
                      <a:headEnd type="none" w="med" len="med"/>
                      <a:tailEnd type="none" w="med" len="med"/>
                    </a:lnL>
                    <a:lnR w="6350" cap="flat" cmpd="sng" algn="ctr">
                      <a:solidFill>
                        <a:srgbClr val="C9E4C0"/>
                      </a:solidFill>
                      <a:prstDash val="solid"/>
                      <a:round/>
                      <a:headEnd type="none" w="med" len="med"/>
                      <a:tailEnd type="none" w="med" len="med"/>
                    </a:lnR>
                    <a:lnT w="6350" cap="flat" cmpd="sng" algn="ctr">
                      <a:solidFill>
                        <a:srgbClr val="C9E4C0"/>
                      </a:solidFill>
                      <a:prstDash val="solid"/>
                      <a:round/>
                      <a:headEnd type="none" w="med" len="med"/>
                      <a:tailEnd type="none" w="med" len="med"/>
                    </a:lnT>
                    <a:lnB w="6350" cap="flat" cmpd="sng" algn="ctr">
                      <a:solidFill>
                        <a:srgbClr val="C9E4C0"/>
                      </a:solidFill>
                      <a:prstDash val="solid"/>
                      <a:round/>
                      <a:headEnd type="none" w="med" len="med"/>
                      <a:tailEnd type="none" w="med" len="med"/>
                    </a:lnB>
                  </a:tcPr>
                </a:tc>
                <a:tc>
                  <a:txBody>
                    <a:bodyPr/>
                    <a:lstStyle/>
                    <a:p>
                      <a:pPr marL="0" indent="0">
                        <a:buNone/>
                      </a:pPr>
                      <a:r>
                        <a:rPr lang="en-US" sz="1400" dirty="0">
                          <a:solidFill>
                            <a:schemeClr val="tx1"/>
                          </a:solidFill>
                        </a:rPr>
                        <a:t>O(1)</a:t>
                      </a:r>
                      <a:endParaRPr lang="en-US" sz="1400" dirty="0"/>
                    </a:p>
                  </a:txBody>
                  <a:tcPr marL="73152" marR="73152" marT="36576" marB="36576" anchor="ctr">
                    <a:lnL w="6350" cap="flat" cmpd="sng" algn="ctr">
                      <a:solidFill>
                        <a:srgbClr val="C9E4C0"/>
                      </a:solidFill>
                      <a:prstDash val="solid"/>
                      <a:round/>
                      <a:headEnd type="none" w="med" len="med"/>
                      <a:tailEnd type="none" w="med" len="med"/>
                    </a:lnL>
                    <a:lnR w="6350" cap="flat" cmpd="sng" algn="ctr">
                      <a:solidFill>
                        <a:srgbClr val="C9E4C0"/>
                      </a:solidFill>
                      <a:prstDash val="solid"/>
                      <a:round/>
                      <a:headEnd type="none" w="med" len="med"/>
                      <a:tailEnd type="none" w="med" len="med"/>
                    </a:lnR>
                    <a:lnT w="6350" cap="flat" cmpd="sng" algn="ctr">
                      <a:solidFill>
                        <a:srgbClr val="C9E4C0"/>
                      </a:solidFill>
                      <a:prstDash val="solid"/>
                      <a:round/>
                      <a:headEnd type="none" w="med" len="med"/>
                      <a:tailEnd type="none" w="med" len="med"/>
                    </a:lnT>
                    <a:lnB w="6350" cap="flat" cmpd="sng" algn="ctr">
                      <a:solidFill>
                        <a:srgbClr val="C9E4C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16" name="Complexity note"/>
          <p:cNvSpPr txBox="1"/>
          <p:nvPr/>
        </p:nvSpPr>
        <p:spPr>
          <a:xfrm>
            <a:off x="4297680" y="4389120"/>
            <a:ext cx="4389120" cy="274320"/>
          </a:xfrm>
          <a:prstGeom prst="rect">
            <a:avLst/>
          </a:prstGeom>
          <a:noFill/>
          <a:ln/>
        </p:spPr>
        <p:txBody>
          <a:bodyPr wrap="square" lIns="0" tIns="0" rIns="0" bIns="0" rtlCol="0" anchor="t"/>
          <a:lstStyle/>
          <a:p>
            <a:pPr marL="0" indent="0">
              <a:buNone/>
            </a:pPr>
            <a:r>
              <a:rPr lang="en-US" sz="1100" dirty="0">
                <a:solidFill>
                  <a:schemeClr val="tx1"/>
                </a:solidFill>
              </a:rPr>
              <a:t>n = farmers offering the product, k = voice keywords</a:t>
            </a:r>
            <a:endParaRPr lang="en-US" sz="11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1"/>
                </a:solidFill>
              </a:defRPr>
            </a:lvl1pPr>
          </a:lstStyle>
          <a:p>
            <a:pPr algn="l"/>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400" b="1" dirty="0">
                <a:solidFill>
                  <a:schemeClr val="tx2"/>
                </a:solidFill>
              </a:rPr>
              <a:t>Demo &amp; Impact</a:t>
            </a:r>
            <a:endParaRPr lang="en-US" sz="3400" dirty="0"/>
          </a:p>
        </p:txBody>
      </p:sp>
      <p:sp>
        <p:nvSpPr>
          <p:cNvPr id="3" name="Sample caption"/>
          <p:cNvSpPr txBox="1"/>
          <p:nvPr/>
        </p:nvSpPr>
        <p:spPr>
          <a:xfrm>
            <a:off x="457200" y="1097280"/>
            <a:ext cx="4754880" cy="274320"/>
          </a:xfrm>
          <a:prstGeom prst="rect">
            <a:avLst/>
          </a:prstGeom>
          <a:noFill/>
          <a:ln/>
        </p:spPr>
        <p:txBody>
          <a:bodyPr wrap="square" lIns="0" tIns="0" rIns="0" bIns="0" rtlCol="0" anchor="t"/>
          <a:lstStyle/>
          <a:p>
            <a:pPr marL="0" indent="0">
              <a:buNone/>
            </a:pPr>
            <a:r>
              <a:rPr lang="en-US" sz="1400" b="1" dirty="0">
                <a:solidFill>
                  <a:schemeClr val="tx2"/>
                </a:solidFill>
              </a:rPr>
              <a:t>Sample output: compare 2 kg of tomatoes (demo data)</a:t>
            </a:r>
            <a:endParaRPr lang="en-US" sz="1400" dirty="0"/>
          </a:p>
        </p:txBody>
      </p:sp>
      <p:graphicFrame>
        <p:nvGraphicFramePr>
          <p:cNvPr id="7" name="Compare table"/>
          <p:cNvGraphicFramePr>
            <a:graphicFrameLocks noGrp="1"/>
          </p:cNvGraphicFramePr>
          <p:nvPr>
            <p:extLst>
              <p:ext uri="{D42A27DB-BD31-4B8C-83A1-F6EECF244321}">
                <p14:modId xmlns:p14="http://schemas.microsoft.com/office/powerpoint/2010/main" val="1579011935"/>
              </p:ext>
            </p:extLst>
          </p:nvPr>
        </p:nvGraphicFramePr>
        <p:xfrm>
          <a:off x="457200" y="1417320"/>
          <a:ext cx="4754880" cy="1536192"/>
        </p:xfrm>
        <a:graphic>
          <a:graphicData uri="http://schemas.openxmlformats.org/drawingml/2006/table">
            <a:tbl>
              <a:tblPr/>
              <a:tblGrid>
                <a:gridCol w="118872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tblGrid>
              <a:tr h="384048">
                <a:tc>
                  <a:txBody>
                    <a:bodyPr/>
                    <a:lstStyle/>
                    <a:p>
                      <a:pPr marL="0" indent="0">
                        <a:buNone/>
                      </a:pPr>
                      <a:r>
                        <a:rPr lang="en-US" sz="1400" b="1" dirty="0">
                          <a:solidFill>
                            <a:schemeClr val="bg1"/>
                          </a:solidFill>
                        </a:rPr>
                        <a:t>Farmer</a:t>
                      </a:r>
                      <a:endParaRPr lang="en-US" sz="1400" dirty="0"/>
                    </a:p>
                  </a:txBody>
                  <a:tcPr marL="73152" marR="73152" marT="36576" marB="36576" anchor="ctr">
                    <a:lnL w="6350" cap="flat" cmpd="sng" algn="ctr">
                      <a:solidFill>
                        <a:srgbClr val="C9E4C0"/>
                      </a:solidFill>
                      <a:prstDash val="solid"/>
                      <a:round/>
                      <a:headEnd type="none" w="med" len="med"/>
                      <a:tailEnd type="none" w="med" len="med"/>
                    </a:lnL>
                    <a:lnR w="6350" cap="flat" cmpd="sng" algn="ctr">
                      <a:solidFill>
                        <a:srgbClr val="C9E4C0"/>
                      </a:solidFill>
                      <a:prstDash val="solid"/>
                      <a:round/>
                      <a:headEnd type="none" w="med" len="med"/>
                      <a:tailEnd type="none" w="med" len="med"/>
                    </a:lnR>
                    <a:lnT w="6350" cap="flat" cmpd="sng" algn="ctr">
                      <a:solidFill>
                        <a:srgbClr val="C9E4C0"/>
                      </a:solidFill>
                      <a:prstDash val="solid"/>
                      <a:round/>
                      <a:headEnd type="none" w="med" len="med"/>
                      <a:tailEnd type="none" w="med" len="med"/>
                    </a:lnT>
                    <a:lnB w="6350" cap="flat" cmpd="sng" algn="ctr">
                      <a:solidFill>
                        <a:srgbClr val="C9E4C0"/>
                      </a:solidFill>
                      <a:prstDash val="solid"/>
                      <a:round/>
                      <a:headEnd type="none" w="med" len="med"/>
                      <a:tailEnd type="none" w="med" len="med"/>
                    </a:lnB>
                    <a:solidFill>
                      <a:schemeClr val="tx2"/>
                    </a:solidFill>
                  </a:tcPr>
                </a:tc>
                <a:tc>
                  <a:txBody>
                    <a:bodyPr/>
                    <a:lstStyle/>
                    <a:p>
                      <a:pPr marL="0" indent="0">
                        <a:buNone/>
                      </a:pPr>
                      <a:r>
                        <a:rPr lang="en-US" sz="1400" b="1" dirty="0">
                          <a:solidFill>
                            <a:schemeClr val="bg1"/>
                          </a:solidFill>
                        </a:rPr>
                        <a:t>Price/kg</a:t>
                      </a:r>
                      <a:endParaRPr lang="en-US" sz="1400" dirty="0"/>
                    </a:p>
                  </a:txBody>
                  <a:tcPr marL="73152" marR="73152" marT="36576" marB="36576" anchor="ctr">
                    <a:lnL w="6350" cap="flat" cmpd="sng" algn="ctr">
                      <a:solidFill>
                        <a:srgbClr val="C9E4C0"/>
                      </a:solidFill>
                      <a:prstDash val="solid"/>
                      <a:round/>
                      <a:headEnd type="none" w="med" len="med"/>
                      <a:tailEnd type="none" w="med" len="med"/>
                    </a:lnL>
                    <a:lnR w="6350" cap="flat" cmpd="sng" algn="ctr">
                      <a:solidFill>
                        <a:srgbClr val="C9E4C0"/>
                      </a:solidFill>
                      <a:prstDash val="solid"/>
                      <a:round/>
                      <a:headEnd type="none" w="med" len="med"/>
                      <a:tailEnd type="none" w="med" len="med"/>
                    </a:lnR>
                    <a:lnT w="6350" cap="flat" cmpd="sng" algn="ctr">
                      <a:solidFill>
                        <a:srgbClr val="C9E4C0"/>
                      </a:solidFill>
                      <a:prstDash val="solid"/>
                      <a:round/>
                      <a:headEnd type="none" w="med" len="med"/>
                      <a:tailEnd type="none" w="med" len="med"/>
                    </a:lnT>
                    <a:lnB w="6350" cap="flat" cmpd="sng" algn="ctr">
                      <a:solidFill>
                        <a:srgbClr val="C9E4C0"/>
                      </a:solidFill>
                      <a:prstDash val="solid"/>
                      <a:round/>
                      <a:headEnd type="none" w="med" len="med"/>
                      <a:tailEnd type="none" w="med" len="med"/>
                    </a:lnB>
                    <a:solidFill>
                      <a:schemeClr val="tx2"/>
                    </a:solidFill>
                  </a:tcPr>
                </a:tc>
                <a:tc>
                  <a:txBody>
                    <a:bodyPr/>
                    <a:lstStyle/>
                    <a:p>
                      <a:pPr marL="0" indent="0">
                        <a:buNone/>
                      </a:pPr>
                      <a:r>
                        <a:rPr lang="en-US" sz="1400" b="1" dirty="0">
                          <a:solidFill>
                            <a:schemeClr val="bg1"/>
                          </a:solidFill>
                        </a:rPr>
                        <a:t>Delivery</a:t>
                      </a:r>
                      <a:endParaRPr lang="en-US" sz="1400" dirty="0"/>
                    </a:p>
                  </a:txBody>
                  <a:tcPr marL="73152" marR="73152" marT="36576" marB="36576" anchor="ctr">
                    <a:lnL w="6350" cap="flat" cmpd="sng" algn="ctr">
                      <a:solidFill>
                        <a:srgbClr val="C9E4C0"/>
                      </a:solidFill>
                      <a:prstDash val="solid"/>
                      <a:round/>
                      <a:headEnd type="none" w="med" len="med"/>
                      <a:tailEnd type="none" w="med" len="med"/>
                    </a:lnL>
                    <a:lnR w="6350" cap="flat" cmpd="sng" algn="ctr">
                      <a:solidFill>
                        <a:srgbClr val="C9E4C0"/>
                      </a:solidFill>
                      <a:prstDash val="solid"/>
                      <a:round/>
                      <a:headEnd type="none" w="med" len="med"/>
                      <a:tailEnd type="none" w="med" len="med"/>
                    </a:lnR>
                    <a:lnT w="6350" cap="flat" cmpd="sng" algn="ctr">
                      <a:solidFill>
                        <a:srgbClr val="C9E4C0"/>
                      </a:solidFill>
                      <a:prstDash val="solid"/>
                      <a:round/>
                      <a:headEnd type="none" w="med" len="med"/>
                      <a:tailEnd type="none" w="med" len="med"/>
                    </a:lnT>
                    <a:lnB w="6350" cap="flat" cmpd="sng" algn="ctr">
                      <a:solidFill>
                        <a:srgbClr val="C9E4C0"/>
                      </a:solidFill>
                      <a:prstDash val="solid"/>
                      <a:round/>
                      <a:headEnd type="none" w="med" len="med"/>
                      <a:tailEnd type="none" w="med" len="med"/>
                    </a:lnB>
                    <a:solidFill>
                      <a:schemeClr val="tx2"/>
                    </a:solidFill>
                  </a:tcPr>
                </a:tc>
                <a:tc>
                  <a:txBody>
                    <a:bodyPr/>
                    <a:lstStyle/>
                    <a:p>
                      <a:pPr marL="0" indent="0">
                        <a:buNone/>
                      </a:pPr>
                      <a:r>
                        <a:rPr lang="en-US" sz="1400" b="1" dirty="0">
                          <a:solidFill>
                            <a:schemeClr val="bg1"/>
                          </a:solidFill>
                        </a:rPr>
                        <a:t>Total</a:t>
                      </a:r>
                      <a:endParaRPr lang="en-US" sz="1400" dirty="0"/>
                    </a:p>
                  </a:txBody>
                  <a:tcPr marL="73152" marR="73152" marT="36576" marB="36576" anchor="ctr">
                    <a:lnL w="6350" cap="flat" cmpd="sng" algn="ctr">
                      <a:solidFill>
                        <a:srgbClr val="C9E4C0"/>
                      </a:solidFill>
                      <a:prstDash val="solid"/>
                      <a:round/>
                      <a:headEnd type="none" w="med" len="med"/>
                      <a:tailEnd type="none" w="med" len="med"/>
                    </a:lnL>
                    <a:lnR w="6350" cap="flat" cmpd="sng" algn="ctr">
                      <a:solidFill>
                        <a:srgbClr val="C9E4C0"/>
                      </a:solidFill>
                      <a:prstDash val="solid"/>
                      <a:round/>
                      <a:headEnd type="none" w="med" len="med"/>
                      <a:tailEnd type="none" w="med" len="med"/>
                    </a:lnR>
                    <a:lnT w="6350" cap="flat" cmpd="sng" algn="ctr">
                      <a:solidFill>
                        <a:srgbClr val="C9E4C0"/>
                      </a:solidFill>
                      <a:prstDash val="solid"/>
                      <a:round/>
                      <a:headEnd type="none" w="med" len="med"/>
                      <a:tailEnd type="none" w="med" len="med"/>
                    </a:lnT>
                    <a:lnB w="6350" cap="flat" cmpd="sng" algn="ctr">
                      <a:solidFill>
                        <a:srgbClr val="C9E4C0"/>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384048">
                <a:tc>
                  <a:txBody>
                    <a:bodyPr/>
                    <a:lstStyle/>
                    <a:p>
                      <a:pPr marL="0" indent="0">
                        <a:buNone/>
                      </a:pPr>
                      <a:r>
                        <a:rPr lang="en-US" sz="1400" dirty="0">
                          <a:solidFill>
                            <a:schemeClr val="tx1"/>
                          </a:solidFill>
                        </a:rPr>
                        <a:t>Farmer A</a:t>
                      </a:r>
                      <a:endParaRPr lang="en-US" sz="1400" dirty="0"/>
                    </a:p>
                  </a:txBody>
                  <a:tcPr marL="73152" marR="73152" marT="36576" marB="36576" anchor="ctr">
                    <a:lnL w="6350" cap="flat" cmpd="sng" algn="ctr">
                      <a:solidFill>
                        <a:srgbClr val="C9E4C0"/>
                      </a:solidFill>
                      <a:prstDash val="solid"/>
                      <a:round/>
                      <a:headEnd type="none" w="med" len="med"/>
                      <a:tailEnd type="none" w="med" len="med"/>
                    </a:lnL>
                    <a:lnR w="6350" cap="flat" cmpd="sng" algn="ctr">
                      <a:solidFill>
                        <a:srgbClr val="C9E4C0"/>
                      </a:solidFill>
                      <a:prstDash val="solid"/>
                      <a:round/>
                      <a:headEnd type="none" w="med" len="med"/>
                      <a:tailEnd type="none" w="med" len="med"/>
                    </a:lnR>
                    <a:lnT w="6350" cap="flat" cmpd="sng" algn="ctr">
                      <a:solidFill>
                        <a:srgbClr val="C9E4C0"/>
                      </a:solidFill>
                      <a:prstDash val="solid"/>
                      <a:round/>
                      <a:headEnd type="none" w="med" len="med"/>
                      <a:tailEnd type="none" w="med" len="med"/>
                    </a:lnT>
                    <a:lnB w="6350" cap="flat" cmpd="sng" algn="ctr">
                      <a:solidFill>
                        <a:srgbClr val="C9E4C0"/>
                      </a:solidFill>
                      <a:prstDash val="solid"/>
                      <a:round/>
                      <a:headEnd type="none" w="med" len="med"/>
                      <a:tailEnd type="none" w="med" len="med"/>
                    </a:lnB>
                  </a:tcPr>
                </a:tc>
                <a:tc>
                  <a:txBody>
                    <a:bodyPr/>
                    <a:lstStyle/>
                    <a:p>
                      <a:pPr marL="0" indent="0">
                        <a:buNone/>
                      </a:pPr>
                      <a:r>
                        <a:rPr lang="en-US" sz="1400" dirty="0">
                          <a:solidFill>
                            <a:schemeClr val="tx1"/>
                          </a:solidFill>
                        </a:rPr>
                        <a:t>Rs 30</a:t>
                      </a:r>
                      <a:endParaRPr lang="en-US" sz="1400" dirty="0"/>
                    </a:p>
                  </a:txBody>
                  <a:tcPr marL="73152" marR="73152" marT="36576" marB="36576" anchor="ctr">
                    <a:lnL w="6350" cap="flat" cmpd="sng" algn="ctr">
                      <a:solidFill>
                        <a:srgbClr val="C9E4C0"/>
                      </a:solidFill>
                      <a:prstDash val="solid"/>
                      <a:round/>
                      <a:headEnd type="none" w="med" len="med"/>
                      <a:tailEnd type="none" w="med" len="med"/>
                    </a:lnL>
                    <a:lnR w="6350" cap="flat" cmpd="sng" algn="ctr">
                      <a:solidFill>
                        <a:srgbClr val="C9E4C0"/>
                      </a:solidFill>
                      <a:prstDash val="solid"/>
                      <a:round/>
                      <a:headEnd type="none" w="med" len="med"/>
                      <a:tailEnd type="none" w="med" len="med"/>
                    </a:lnR>
                    <a:lnT w="6350" cap="flat" cmpd="sng" algn="ctr">
                      <a:solidFill>
                        <a:srgbClr val="C9E4C0"/>
                      </a:solidFill>
                      <a:prstDash val="solid"/>
                      <a:round/>
                      <a:headEnd type="none" w="med" len="med"/>
                      <a:tailEnd type="none" w="med" len="med"/>
                    </a:lnT>
                    <a:lnB w="6350" cap="flat" cmpd="sng" algn="ctr">
                      <a:solidFill>
                        <a:srgbClr val="C9E4C0"/>
                      </a:solidFill>
                      <a:prstDash val="solid"/>
                      <a:round/>
                      <a:headEnd type="none" w="med" len="med"/>
                      <a:tailEnd type="none" w="med" len="med"/>
                    </a:lnB>
                  </a:tcPr>
                </a:tc>
                <a:tc>
                  <a:txBody>
                    <a:bodyPr/>
                    <a:lstStyle/>
                    <a:p>
                      <a:pPr marL="0" indent="0">
                        <a:buNone/>
                      </a:pPr>
                      <a:r>
                        <a:rPr lang="en-US" sz="1400" dirty="0">
                          <a:solidFill>
                            <a:schemeClr val="tx1"/>
                          </a:solidFill>
                        </a:rPr>
                        <a:t>Rs 10</a:t>
                      </a:r>
                      <a:endParaRPr lang="en-US" sz="1400" dirty="0"/>
                    </a:p>
                  </a:txBody>
                  <a:tcPr marL="73152" marR="73152" marT="36576" marB="36576" anchor="ctr">
                    <a:lnL w="6350" cap="flat" cmpd="sng" algn="ctr">
                      <a:solidFill>
                        <a:srgbClr val="C9E4C0"/>
                      </a:solidFill>
                      <a:prstDash val="solid"/>
                      <a:round/>
                      <a:headEnd type="none" w="med" len="med"/>
                      <a:tailEnd type="none" w="med" len="med"/>
                    </a:lnL>
                    <a:lnR w="6350" cap="flat" cmpd="sng" algn="ctr">
                      <a:solidFill>
                        <a:srgbClr val="C9E4C0"/>
                      </a:solidFill>
                      <a:prstDash val="solid"/>
                      <a:round/>
                      <a:headEnd type="none" w="med" len="med"/>
                      <a:tailEnd type="none" w="med" len="med"/>
                    </a:lnR>
                    <a:lnT w="6350" cap="flat" cmpd="sng" algn="ctr">
                      <a:solidFill>
                        <a:srgbClr val="C9E4C0"/>
                      </a:solidFill>
                      <a:prstDash val="solid"/>
                      <a:round/>
                      <a:headEnd type="none" w="med" len="med"/>
                      <a:tailEnd type="none" w="med" len="med"/>
                    </a:lnT>
                    <a:lnB w="6350" cap="flat" cmpd="sng" algn="ctr">
                      <a:solidFill>
                        <a:srgbClr val="C9E4C0"/>
                      </a:solidFill>
                      <a:prstDash val="solid"/>
                      <a:round/>
                      <a:headEnd type="none" w="med" len="med"/>
                      <a:tailEnd type="none" w="med" len="med"/>
                    </a:lnB>
                  </a:tcPr>
                </a:tc>
                <a:tc>
                  <a:txBody>
                    <a:bodyPr/>
                    <a:lstStyle/>
                    <a:p>
                      <a:pPr marL="0" indent="0">
                        <a:buNone/>
                      </a:pPr>
                      <a:r>
                        <a:rPr lang="en-US" sz="1400" dirty="0">
                          <a:solidFill>
                            <a:schemeClr val="tx1"/>
                          </a:solidFill>
                        </a:rPr>
                        <a:t>Rs 70</a:t>
                      </a:r>
                      <a:endParaRPr lang="en-US" sz="1400" dirty="0"/>
                    </a:p>
                  </a:txBody>
                  <a:tcPr marL="73152" marR="73152" marT="36576" marB="36576" anchor="ctr">
                    <a:lnL w="6350" cap="flat" cmpd="sng" algn="ctr">
                      <a:solidFill>
                        <a:srgbClr val="C9E4C0"/>
                      </a:solidFill>
                      <a:prstDash val="solid"/>
                      <a:round/>
                      <a:headEnd type="none" w="med" len="med"/>
                      <a:tailEnd type="none" w="med" len="med"/>
                    </a:lnL>
                    <a:lnR w="6350" cap="flat" cmpd="sng" algn="ctr">
                      <a:solidFill>
                        <a:srgbClr val="C9E4C0"/>
                      </a:solidFill>
                      <a:prstDash val="solid"/>
                      <a:round/>
                      <a:headEnd type="none" w="med" len="med"/>
                      <a:tailEnd type="none" w="med" len="med"/>
                    </a:lnR>
                    <a:lnT w="6350" cap="flat" cmpd="sng" algn="ctr">
                      <a:solidFill>
                        <a:srgbClr val="C9E4C0"/>
                      </a:solidFill>
                      <a:prstDash val="solid"/>
                      <a:round/>
                      <a:headEnd type="none" w="med" len="med"/>
                      <a:tailEnd type="none" w="med" len="med"/>
                    </a:lnT>
                    <a:lnB w="6350" cap="flat" cmpd="sng" algn="ctr">
                      <a:solidFill>
                        <a:srgbClr val="C9E4C0"/>
                      </a:solidFill>
                      <a:prstDash val="solid"/>
                      <a:round/>
                      <a:headEnd type="none" w="med" len="med"/>
                      <a:tailEnd type="none" w="med" len="med"/>
                    </a:lnB>
                  </a:tcPr>
                </a:tc>
                <a:extLst>
                  <a:ext uri="{0D108BD9-81ED-4DB2-BD59-A6C34878D82A}">
                    <a16:rowId xmlns:a16="http://schemas.microsoft.com/office/drawing/2014/main" val="10001"/>
                  </a:ext>
                </a:extLst>
              </a:tr>
              <a:tr h="384048">
                <a:tc>
                  <a:txBody>
                    <a:bodyPr/>
                    <a:lstStyle/>
                    <a:p>
                      <a:pPr marL="0" indent="0">
                        <a:buNone/>
                      </a:pPr>
                      <a:r>
                        <a:rPr lang="en-US" sz="1400" dirty="0">
                          <a:solidFill>
                            <a:schemeClr val="tx1"/>
                          </a:solidFill>
                        </a:rPr>
                        <a:t>Farmer B</a:t>
                      </a:r>
                      <a:endParaRPr lang="en-US" sz="1400" dirty="0"/>
                    </a:p>
                  </a:txBody>
                  <a:tcPr marL="73152" marR="73152" marT="36576" marB="36576" anchor="ctr">
                    <a:lnL w="6350" cap="flat" cmpd="sng" algn="ctr">
                      <a:solidFill>
                        <a:srgbClr val="C9E4C0"/>
                      </a:solidFill>
                      <a:prstDash val="solid"/>
                      <a:round/>
                      <a:headEnd type="none" w="med" len="med"/>
                      <a:tailEnd type="none" w="med" len="med"/>
                    </a:lnL>
                    <a:lnR w="6350" cap="flat" cmpd="sng" algn="ctr">
                      <a:solidFill>
                        <a:srgbClr val="C9E4C0"/>
                      </a:solidFill>
                      <a:prstDash val="solid"/>
                      <a:round/>
                      <a:headEnd type="none" w="med" len="med"/>
                      <a:tailEnd type="none" w="med" len="med"/>
                    </a:lnR>
                    <a:lnT w="6350" cap="flat" cmpd="sng" algn="ctr">
                      <a:solidFill>
                        <a:srgbClr val="C9E4C0"/>
                      </a:solidFill>
                      <a:prstDash val="solid"/>
                      <a:round/>
                      <a:headEnd type="none" w="med" len="med"/>
                      <a:tailEnd type="none" w="med" len="med"/>
                    </a:lnT>
                    <a:lnB w="6350" cap="flat" cmpd="sng" algn="ctr">
                      <a:solidFill>
                        <a:srgbClr val="C9E4C0"/>
                      </a:solidFill>
                      <a:prstDash val="solid"/>
                      <a:round/>
                      <a:headEnd type="none" w="med" len="med"/>
                      <a:tailEnd type="none" w="med" len="med"/>
                    </a:lnB>
                  </a:tcPr>
                </a:tc>
                <a:tc>
                  <a:txBody>
                    <a:bodyPr/>
                    <a:lstStyle/>
                    <a:p>
                      <a:pPr marL="0" indent="0">
                        <a:buNone/>
                      </a:pPr>
                      <a:r>
                        <a:rPr lang="en-US" sz="1400" dirty="0">
                          <a:solidFill>
                            <a:schemeClr val="tx1"/>
                          </a:solidFill>
                        </a:rPr>
                        <a:t>Rs 25</a:t>
                      </a:r>
                      <a:endParaRPr lang="en-US" sz="1400" dirty="0"/>
                    </a:p>
                  </a:txBody>
                  <a:tcPr marL="73152" marR="73152" marT="36576" marB="36576" anchor="ctr">
                    <a:lnL w="6350" cap="flat" cmpd="sng" algn="ctr">
                      <a:solidFill>
                        <a:srgbClr val="C9E4C0"/>
                      </a:solidFill>
                      <a:prstDash val="solid"/>
                      <a:round/>
                      <a:headEnd type="none" w="med" len="med"/>
                      <a:tailEnd type="none" w="med" len="med"/>
                    </a:lnL>
                    <a:lnR w="6350" cap="flat" cmpd="sng" algn="ctr">
                      <a:solidFill>
                        <a:srgbClr val="C9E4C0"/>
                      </a:solidFill>
                      <a:prstDash val="solid"/>
                      <a:round/>
                      <a:headEnd type="none" w="med" len="med"/>
                      <a:tailEnd type="none" w="med" len="med"/>
                    </a:lnR>
                    <a:lnT w="6350" cap="flat" cmpd="sng" algn="ctr">
                      <a:solidFill>
                        <a:srgbClr val="C9E4C0"/>
                      </a:solidFill>
                      <a:prstDash val="solid"/>
                      <a:round/>
                      <a:headEnd type="none" w="med" len="med"/>
                      <a:tailEnd type="none" w="med" len="med"/>
                    </a:lnT>
                    <a:lnB w="6350" cap="flat" cmpd="sng" algn="ctr">
                      <a:solidFill>
                        <a:srgbClr val="C9E4C0"/>
                      </a:solidFill>
                      <a:prstDash val="solid"/>
                      <a:round/>
                      <a:headEnd type="none" w="med" len="med"/>
                      <a:tailEnd type="none" w="med" len="med"/>
                    </a:lnB>
                  </a:tcPr>
                </a:tc>
                <a:tc>
                  <a:txBody>
                    <a:bodyPr/>
                    <a:lstStyle/>
                    <a:p>
                      <a:pPr marL="0" indent="0">
                        <a:buNone/>
                      </a:pPr>
                      <a:r>
                        <a:rPr lang="en-US" sz="1400" dirty="0">
                          <a:solidFill>
                            <a:schemeClr val="tx1"/>
                          </a:solidFill>
                        </a:rPr>
                        <a:t>Rs 30</a:t>
                      </a:r>
                      <a:endParaRPr lang="en-US" sz="1400" dirty="0"/>
                    </a:p>
                  </a:txBody>
                  <a:tcPr marL="73152" marR="73152" marT="36576" marB="36576" anchor="ctr">
                    <a:lnL w="6350" cap="flat" cmpd="sng" algn="ctr">
                      <a:solidFill>
                        <a:srgbClr val="C9E4C0"/>
                      </a:solidFill>
                      <a:prstDash val="solid"/>
                      <a:round/>
                      <a:headEnd type="none" w="med" len="med"/>
                      <a:tailEnd type="none" w="med" len="med"/>
                    </a:lnL>
                    <a:lnR w="6350" cap="flat" cmpd="sng" algn="ctr">
                      <a:solidFill>
                        <a:srgbClr val="C9E4C0"/>
                      </a:solidFill>
                      <a:prstDash val="solid"/>
                      <a:round/>
                      <a:headEnd type="none" w="med" len="med"/>
                      <a:tailEnd type="none" w="med" len="med"/>
                    </a:lnR>
                    <a:lnT w="6350" cap="flat" cmpd="sng" algn="ctr">
                      <a:solidFill>
                        <a:srgbClr val="C9E4C0"/>
                      </a:solidFill>
                      <a:prstDash val="solid"/>
                      <a:round/>
                      <a:headEnd type="none" w="med" len="med"/>
                      <a:tailEnd type="none" w="med" len="med"/>
                    </a:lnT>
                    <a:lnB w="6350" cap="flat" cmpd="sng" algn="ctr">
                      <a:solidFill>
                        <a:srgbClr val="C9E4C0"/>
                      </a:solidFill>
                      <a:prstDash val="solid"/>
                      <a:round/>
                      <a:headEnd type="none" w="med" len="med"/>
                      <a:tailEnd type="none" w="med" len="med"/>
                    </a:lnB>
                  </a:tcPr>
                </a:tc>
                <a:tc>
                  <a:txBody>
                    <a:bodyPr/>
                    <a:lstStyle/>
                    <a:p>
                      <a:pPr marL="0" indent="0">
                        <a:buNone/>
                      </a:pPr>
                      <a:r>
                        <a:rPr lang="en-US" sz="1400" dirty="0">
                          <a:solidFill>
                            <a:schemeClr val="tx1"/>
                          </a:solidFill>
                        </a:rPr>
                        <a:t>Rs 80</a:t>
                      </a:r>
                      <a:endParaRPr lang="en-US" sz="1400" dirty="0"/>
                    </a:p>
                  </a:txBody>
                  <a:tcPr marL="73152" marR="73152" marT="36576" marB="36576" anchor="ctr">
                    <a:lnL w="6350" cap="flat" cmpd="sng" algn="ctr">
                      <a:solidFill>
                        <a:srgbClr val="C9E4C0"/>
                      </a:solidFill>
                      <a:prstDash val="solid"/>
                      <a:round/>
                      <a:headEnd type="none" w="med" len="med"/>
                      <a:tailEnd type="none" w="med" len="med"/>
                    </a:lnL>
                    <a:lnR w="6350" cap="flat" cmpd="sng" algn="ctr">
                      <a:solidFill>
                        <a:srgbClr val="C9E4C0"/>
                      </a:solidFill>
                      <a:prstDash val="solid"/>
                      <a:round/>
                      <a:headEnd type="none" w="med" len="med"/>
                      <a:tailEnd type="none" w="med" len="med"/>
                    </a:lnR>
                    <a:lnT w="6350" cap="flat" cmpd="sng" algn="ctr">
                      <a:solidFill>
                        <a:srgbClr val="C9E4C0"/>
                      </a:solidFill>
                      <a:prstDash val="solid"/>
                      <a:round/>
                      <a:headEnd type="none" w="med" len="med"/>
                      <a:tailEnd type="none" w="med" len="med"/>
                    </a:lnT>
                    <a:lnB w="6350" cap="flat" cmpd="sng" algn="ctr">
                      <a:solidFill>
                        <a:srgbClr val="C9E4C0"/>
                      </a:solidFill>
                      <a:prstDash val="solid"/>
                      <a:round/>
                      <a:headEnd type="none" w="med" len="med"/>
                      <a:tailEnd type="none" w="med" len="med"/>
                    </a:lnB>
                  </a:tcPr>
                </a:tc>
                <a:extLst>
                  <a:ext uri="{0D108BD9-81ED-4DB2-BD59-A6C34878D82A}">
                    <a16:rowId xmlns:a16="http://schemas.microsoft.com/office/drawing/2014/main" val="10002"/>
                  </a:ext>
                </a:extLst>
              </a:tr>
              <a:tr h="384048">
                <a:tc>
                  <a:txBody>
                    <a:bodyPr/>
                    <a:lstStyle/>
                    <a:p>
                      <a:pPr marL="0" indent="0">
                        <a:buNone/>
                      </a:pPr>
                      <a:r>
                        <a:rPr lang="en-US" sz="1400" b="1" dirty="0">
                          <a:solidFill>
                            <a:schemeClr val="tx1"/>
                          </a:solidFill>
                        </a:rPr>
                        <a:t>Farmer C</a:t>
                      </a:r>
                      <a:endParaRPr lang="en-US" sz="1400" dirty="0"/>
                    </a:p>
                  </a:txBody>
                  <a:tcPr marL="73152" marR="73152" marT="36576" marB="36576" anchor="ctr">
                    <a:lnL w="6350" cap="flat" cmpd="sng" algn="ctr">
                      <a:solidFill>
                        <a:srgbClr val="C9E4C0"/>
                      </a:solidFill>
                      <a:prstDash val="solid"/>
                      <a:round/>
                      <a:headEnd type="none" w="med" len="med"/>
                      <a:tailEnd type="none" w="med" len="med"/>
                    </a:lnL>
                    <a:lnR w="6350" cap="flat" cmpd="sng" algn="ctr">
                      <a:solidFill>
                        <a:srgbClr val="C9E4C0"/>
                      </a:solidFill>
                      <a:prstDash val="solid"/>
                      <a:round/>
                      <a:headEnd type="none" w="med" len="med"/>
                      <a:tailEnd type="none" w="med" len="med"/>
                    </a:lnR>
                    <a:lnT w="6350" cap="flat" cmpd="sng" algn="ctr">
                      <a:solidFill>
                        <a:srgbClr val="C9E4C0"/>
                      </a:solidFill>
                      <a:prstDash val="solid"/>
                      <a:round/>
                      <a:headEnd type="none" w="med" len="med"/>
                      <a:tailEnd type="none" w="med" len="med"/>
                    </a:lnT>
                    <a:lnB w="6350" cap="flat" cmpd="sng" algn="ctr">
                      <a:solidFill>
                        <a:srgbClr val="C9E4C0"/>
                      </a:solidFill>
                      <a:prstDash val="solid"/>
                      <a:round/>
                      <a:headEnd type="none" w="med" len="med"/>
                      <a:tailEnd type="none" w="med" len="med"/>
                    </a:lnB>
                    <a:solidFill>
                      <a:schemeClr val="accent6"/>
                    </a:solidFill>
                  </a:tcPr>
                </a:tc>
                <a:tc>
                  <a:txBody>
                    <a:bodyPr/>
                    <a:lstStyle/>
                    <a:p>
                      <a:pPr marL="0" indent="0">
                        <a:buNone/>
                      </a:pPr>
                      <a:r>
                        <a:rPr lang="en-US" sz="1400" b="1" dirty="0">
                          <a:solidFill>
                            <a:schemeClr val="tx1"/>
                          </a:solidFill>
                        </a:rPr>
                        <a:t>Rs 28</a:t>
                      </a:r>
                      <a:endParaRPr lang="en-US" sz="1400" dirty="0"/>
                    </a:p>
                  </a:txBody>
                  <a:tcPr marL="73152" marR="73152" marT="36576" marB="36576" anchor="ctr">
                    <a:lnL w="6350" cap="flat" cmpd="sng" algn="ctr">
                      <a:solidFill>
                        <a:srgbClr val="C9E4C0"/>
                      </a:solidFill>
                      <a:prstDash val="solid"/>
                      <a:round/>
                      <a:headEnd type="none" w="med" len="med"/>
                      <a:tailEnd type="none" w="med" len="med"/>
                    </a:lnL>
                    <a:lnR w="6350" cap="flat" cmpd="sng" algn="ctr">
                      <a:solidFill>
                        <a:srgbClr val="C9E4C0"/>
                      </a:solidFill>
                      <a:prstDash val="solid"/>
                      <a:round/>
                      <a:headEnd type="none" w="med" len="med"/>
                      <a:tailEnd type="none" w="med" len="med"/>
                    </a:lnR>
                    <a:lnT w="6350" cap="flat" cmpd="sng" algn="ctr">
                      <a:solidFill>
                        <a:srgbClr val="C9E4C0"/>
                      </a:solidFill>
                      <a:prstDash val="solid"/>
                      <a:round/>
                      <a:headEnd type="none" w="med" len="med"/>
                      <a:tailEnd type="none" w="med" len="med"/>
                    </a:lnT>
                    <a:lnB w="6350" cap="flat" cmpd="sng" algn="ctr">
                      <a:solidFill>
                        <a:srgbClr val="C9E4C0"/>
                      </a:solidFill>
                      <a:prstDash val="solid"/>
                      <a:round/>
                      <a:headEnd type="none" w="med" len="med"/>
                      <a:tailEnd type="none" w="med" len="med"/>
                    </a:lnB>
                    <a:solidFill>
                      <a:schemeClr val="accent6"/>
                    </a:solidFill>
                  </a:tcPr>
                </a:tc>
                <a:tc>
                  <a:txBody>
                    <a:bodyPr/>
                    <a:lstStyle/>
                    <a:p>
                      <a:pPr marL="0" indent="0">
                        <a:buNone/>
                      </a:pPr>
                      <a:r>
                        <a:rPr lang="en-US" sz="1400" b="1" dirty="0">
                          <a:solidFill>
                            <a:schemeClr val="tx1"/>
                          </a:solidFill>
                        </a:rPr>
                        <a:t>Pickup, free</a:t>
                      </a:r>
                      <a:endParaRPr lang="en-US" sz="1400" dirty="0"/>
                    </a:p>
                  </a:txBody>
                  <a:tcPr marL="73152" marR="73152" marT="36576" marB="36576" anchor="ctr">
                    <a:lnL w="6350" cap="flat" cmpd="sng" algn="ctr">
                      <a:solidFill>
                        <a:srgbClr val="C9E4C0"/>
                      </a:solidFill>
                      <a:prstDash val="solid"/>
                      <a:round/>
                      <a:headEnd type="none" w="med" len="med"/>
                      <a:tailEnd type="none" w="med" len="med"/>
                    </a:lnL>
                    <a:lnR w="6350" cap="flat" cmpd="sng" algn="ctr">
                      <a:solidFill>
                        <a:srgbClr val="C9E4C0"/>
                      </a:solidFill>
                      <a:prstDash val="solid"/>
                      <a:round/>
                      <a:headEnd type="none" w="med" len="med"/>
                      <a:tailEnd type="none" w="med" len="med"/>
                    </a:lnR>
                    <a:lnT w="6350" cap="flat" cmpd="sng" algn="ctr">
                      <a:solidFill>
                        <a:srgbClr val="C9E4C0"/>
                      </a:solidFill>
                      <a:prstDash val="solid"/>
                      <a:round/>
                      <a:headEnd type="none" w="med" len="med"/>
                      <a:tailEnd type="none" w="med" len="med"/>
                    </a:lnT>
                    <a:lnB w="6350" cap="flat" cmpd="sng" algn="ctr">
                      <a:solidFill>
                        <a:srgbClr val="C9E4C0"/>
                      </a:solidFill>
                      <a:prstDash val="solid"/>
                      <a:round/>
                      <a:headEnd type="none" w="med" len="med"/>
                      <a:tailEnd type="none" w="med" len="med"/>
                    </a:lnB>
                    <a:solidFill>
                      <a:schemeClr val="accent6"/>
                    </a:solidFill>
                  </a:tcPr>
                </a:tc>
                <a:tc>
                  <a:txBody>
                    <a:bodyPr/>
                    <a:lstStyle/>
                    <a:p>
                      <a:pPr marL="0" indent="0">
                        <a:buNone/>
                      </a:pPr>
                      <a:r>
                        <a:rPr lang="en-US" sz="1400" b="1" dirty="0">
                          <a:solidFill>
                            <a:schemeClr val="tx1"/>
                          </a:solidFill>
                        </a:rPr>
                        <a:t>Rs 56</a:t>
                      </a:r>
                      <a:endParaRPr lang="en-US" sz="1400" dirty="0"/>
                    </a:p>
                  </a:txBody>
                  <a:tcPr marL="73152" marR="73152" marT="36576" marB="36576" anchor="ctr">
                    <a:lnL w="6350" cap="flat" cmpd="sng" algn="ctr">
                      <a:solidFill>
                        <a:srgbClr val="C9E4C0"/>
                      </a:solidFill>
                      <a:prstDash val="solid"/>
                      <a:round/>
                      <a:headEnd type="none" w="med" len="med"/>
                      <a:tailEnd type="none" w="med" len="med"/>
                    </a:lnL>
                    <a:lnR w="6350" cap="flat" cmpd="sng" algn="ctr">
                      <a:solidFill>
                        <a:srgbClr val="C9E4C0"/>
                      </a:solidFill>
                      <a:prstDash val="solid"/>
                      <a:round/>
                      <a:headEnd type="none" w="med" len="med"/>
                      <a:tailEnd type="none" w="med" len="med"/>
                    </a:lnR>
                    <a:lnT w="6350" cap="flat" cmpd="sng" algn="ctr">
                      <a:solidFill>
                        <a:srgbClr val="C9E4C0"/>
                      </a:solidFill>
                      <a:prstDash val="solid"/>
                      <a:round/>
                      <a:headEnd type="none" w="med" len="med"/>
                      <a:tailEnd type="none" w="med" len="med"/>
                    </a:lnT>
                    <a:lnB w="6350" cap="flat" cmpd="sng" algn="ctr">
                      <a:solidFill>
                        <a:srgbClr val="C9E4C0"/>
                      </a:solidFill>
                      <a:prstDash val="solid"/>
                      <a:round/>
                      <a:headEnd type="none" w="med" len="med"/>
                      <a:tailEnd type="none" w="med" len="med"/>
                    </a:lnB>
                    <a:solidFill>
                      <a:schemeClr val="accent6"/>
                    </a:solidFill>
                  </a:tcPr>
                </a:tc>
                <a:extLst>
                  <a:ext uri="{0D108BD9-81ED-4DB2-BD59-A6C34878D82A}">
                    <a16:rowId xmlns:a16="http://schemas.microsoft.com/office/drawing/2014/main" val="10003"/>
                  </a:ext>
                </a:extLst>
              </a:tr>
            </a:tbl>
          </a:graphicData>
        </a:graphic>
      </p:graphicFrame>
      <p:sp>
        <p:nvSpPr>
          <p:cNvPr id="9" name="Benefits title"/>
          <p:cNvSpPr txBox="1"/>
          <p:nvPr/>
        </p:nvSpPr>
        <p:spPr>
          <a:xfrm>
            <a:off x="5577840" y="1097280"/>
            <a:ext cx="3108960" cy="365760"/>
          </a:xfrm>
          <a:prstGeom prst="rect">
            <a:avLst/>
          </a:prstGeom>
          <a:noFill/>
          <a:ln/>
        </p:spPr>
        <p:txBody>
          <a:bodyPr wrap="square" lIns="0" tIns="0" rIns="0" bIns="0" rtlCol="0" anchor="t"/>
          <a:lstStyle/>
          <a:p>
            <a:pPr marL="0" indent="0">
              <a:buNone/>
            </a:pPr>
            <a:r>
              <a:rPr lang="en-US" sz="2000" b="1" dirty="0">
                <a:solidFill>
                  <a:schemeClr val="tx2"/>
                </a:solidFill>
              </a:rPr>
              <a:t>Practical benefits</a:t>
            </a:r>
            <a:endParaRPr lang="en-US" sz="2000" dirty="0"/>
          </a:p>
        </p:txBody>
      </p:sp>
      <p:sp>
        <p:nvSpPr>
          <p:cNvPr id="10" name="Farmers circle"/>
          <p:cNvSpPr/>
          <p:nvPr/>
        </p:nvSpPr>
        <p:spPr>
          <a:xfrm>
            <a:off x="5577840" y="1691640"/>
            <a:ext cx="548640" cy="548640"/>
          </a:xfrm>
          <a:prstGeom prst="ellipse">
            <a:avLst/>
          </a:prstGeom>
          <a:solidFill>
            <a:schemeClr val="tx2"/>
          </a:solidFill>
          <a:ln w="12700">
            <a:solidFill>
              <a:schemeClr val="tx2"/>
            </a:solidFill>
            <a:prstDash val="solid"/>
          </a:ln>
        </p:spPr>
      </p:sp>
      <p:pic>
        <p:nvPicPr>
          <p:cNvPr id="11" name="Farmers icon" descr="Farmers"/>
          <p:cNvPicPr>
            <a:picLocks noChangeAspect="1"/>
          </p:cNvPicPr>
          <p:nvPr/>
        </p:nvPicPr>
        <p:blipFill>
          <a:blip r:embed="rId3"/>
          <a:stretch>
            <a:fillRect/>
          </a:stretch>
        </p:blipFill>
        <p:spPr>
          <a:xfrm>
            <a:off x="5709514" y="1823314"/>
            <a:ext cx="285293" cy="285293"/>
          </a:xfrm>
          <a:prstGeom prst="rect">
            <a:avLst/>
          </a:prstGeom>
        </p:spPr>
      </p:pic>
      <p:sp>
        <p:nvSpPr>
          <p:cNvPr id="12" name="Farmers title"/>
          <p:cNvSpPr txBox="1"/>
          <p:nvPr/>
        </p:nvSpPr>
        <p:spPr>
          <a:xfrm>
            <a:off x="6309360" y="1645920"/>
            <a:ext cx="2377440" cy="274320"/>
          </a:xfrm>
          <a:prstGeom prst="rect">
            <a:avLst/>
          </a:prstGeom>
          <a:noFill/>
          <a:ln/>
        </p:spPr>
        <p:txBody>
          <a:bodyPr wrap="square" lIns="0" tIns="0" rIns="0" bIns="0" rtlCol="0" anchor="t"/>
          <a:lstStyle/>
          <a:p>
            <a:pPr marL="0" indent="0">
              <a:buNone/>
            </a:pPr>
            <a:r>
              <a:rPr lang="en-US" sz="1600" b="1" dirty="0">
                <a:solidFill>
                  <a:schemeClr val="tx2"/>
                </a:solidFill>
              </a:rPr>
              <a:t>Farmers</a:t>
            </a:r>
            <a:endParaRPr lang="en-US" sz="1600" dirty="0"/>
          </a:p>
        </p:txBody>
      </p:sp>
      <p:sp>
        <p:nvSpPr>
          <p:cNvPr id="13" name="Farmers text"/>
          <p:cNvSpPr txBox="1"/>
          <p:nvPr/>
        </p:nvSpPr>
        <p:spPr>
          <a:xfrm>
            <a:off x="6309360" y="1938528"/>
            <a:ext cx="2377440" cy="548640"/>
          </a:xfrm>
          <a:prstGeom prst="rect">
            <a:avLst/>
          </a:prstGeom>
          <a:noFill/>
          <a:ln/>
        </p:spPr>
        <p:txBody>
          <a:bodyPr wrap="square" lIns="0" tIns="0" rIns="0" bIns="0" rtlCol="0" anchor="t"/>
          <a:lstStyle/>
          <a:p>
            <a:pPr marL="0" indent="0">
              <a:buNone/>
            </a:pPr>
            <a:r>
              <a:rPr lang="en-US" sz="1400" dirty="0">
                <a:solidFill>
                  <a:schemeClr val="tx1"/>
                </a:solidFill>
              </a:rPr>
              <a:t>Sell directly and keep more of the price.</a:t>
            </a:r>
            <a:endParaRPr lang="en-US" sz="1400" dirty="0"/>
          </a:p>
        </p:txBody>
      </p:sp>
      <p:sp>
        <p:nvSpPr>
          <p:cNvPr id="14" name="Customers circle"/>
          <p:cNvSpPr/>
          <p:nvPr/>
        </p:nvSpPr>
        <p:spPr>
          <a:xfrm>
            <a:off x="5577840" y="2651760"/>
            <a:ext cx="548640" cy="548640"/>
          </a:xfrm>
          <a:prstGeom prst="ellipse">
            <a:avLst/>
          </a:prstGeom>
          <a:solidFill>
            <a:schemeClr val="tx2"/>
          </a:solidFill>
          <a:ln w="12700">
            <a:solidFill>
              <a:schemeClr val="tx2"/>
            </a:solidFill>
            <a:prstDash val="solid"/>
          </a:ln>
        </p:spPr>
      </p:sp>
      <p:pic>
        <p:nvPicPr>
          <p:cNvPr id="15" name="Customers icon" descr="Customers"/>
          <p:cNvPicPr>
            <a:picLocks noChangeAspect="1"/>
          </p:cNvPicPr>
          <p:nvPr/>
        </p:nvPicPr>
        <p:blipFill>
          <a:blip r:embed="rId4"/>
          <a:stretch>
            <a:fillRect/>
          </a:stretch>
        </p:blipFill>
        <p:spPr>
          <a:xfrm>
            <a:off x="5709514" y="2783434"/>
            <a:ext cx="285293" cy="285293"/>
          </a:xfrm>
          <a:prstGeom prst="rect">
            <a:avLst/>
          </a:prstGeom>
        </p:spPr>
      </p:pic>
      <p:sp>
        <p:nvSpPr>
          <p:cNvPr id="16" name="Customers title"/>
          <p:cNvSpPr txBox="1"/>
          <p:nvPr/>
        </p:nvSpPr>
        <p:spPr>
          <a:xfrm>
            <a:off x="6309360" y="2606040"/>
            <a:ext cx="2377440" cy="274320"/>
          </a:xfrm>
          <a:prstGeom prst="rect">
            <a:avLst/>
          </a:prstGeom>
          <a:noFill/>
          <a:ln/>
        </p:spPr>
        <p:txBody>
          <a:bodyPr wrap="square" lIns="0" tIns="0" rIns="0" bIns="0" rtlCol="0" anchor="t"/>
          <a:lstStyle/>
          <a:p>
            <a:pPr marL="0" indent="0">
              <a:buNone/>
            </a:pPr>
            <a:r>
              <a:rPr lang="en-US" sz="1600" b="1" dirty="0">
                <a:solidFill>
                  <a:schemeClr val="tx2"/>
                </a:solidFill>
              </a:rPr>
              <a:t>Customers</a:t>
            </a:r>
            <a:endParaRPr lang="en-US" sz="1600" dirty="0"/>
          </a:p>
        </p:txBody>
      </p:sp>
      <p:sp>
        <p:nvSpPr>
          <p:cNvPr id="17" name="Customers text"/>
          <p:cNvSpPr txBox="1"/>
          <p:nvPr/>
        </p:nvSpPr>
        <p:spPr>
          <a:xfrm>
            <a:off x="6309360" y="2898648"/>
            <a:ext cx="2377440" cy="548640"/>
          </a:xfrm>
          <a:prstGeom prst="rect">
            <a:avLst/>
          </a:prstGeom>
          <a:noFill/>
          <a:ln/>
        </p:spPr>
        <p:txBody>
          <a:bodyPr wrap="square" lIns="0" tIns="0" rIns="0" bIns="0" rtlCol="0" anchor="t"/>
          <a:lstStyle/>
          <a:p>
            <a:pPr marL="0" indent="0">
              <a:buNone/>
            </a:pPr>
            <a:r>
              <a:rPr lang="en-US" sz="1400" dirty="0">
                <a:solidFill>
                  <a:schemeClr val="tx1"/>
                </a:solidFill>
              </a:rPr>
              <a:t>See the true total cost before buying.</a:t>
            </a:r>
            <a:endParaRPr lang="en-US" sz="1400" dirty="0"/>
          </a:p>
        </p:txBody>
      </p:sp>
      <p:sp>
        <p:nvSpPr>
          <p:cNvPr id="18" name="Community circle"/>
          <p:cNvSpPr/>
          <p:nvPr/>
        </p:nvSpPr>
        <p:spPr>
          <a:xfrm>
            <a:off x="5577840" y="3611880"/>
            <a:ext cx="548640" cy="548640"/>
          </a:xfrm>
          <a:prstGeom prst="ellipse">
            <a:avLst/>
          </a:prstGeom>
          <a:solidFill>
            <a:schemeClr val="tx2"/>
          </a:solidFill>
          <a:ln w="12700">
            <a:solidFill>
              <a:schemeClr val="tx2"/>
            </a:solidFill>
            <a:prstDash val="solid"/>
          </a:ln>
        </p:spPr>
      </p:sp>
      <p:pic>
        <p:nvPicPr>
          <p:cNvPr id="19" name="Community icon" descr="Community"/>
          <p:cNvPicPr>
            <a:picLocks noChangeAspect="1"/>
          </p:cNvPicPr>
          <p:nvPr/>
        </p:nvPicPr>
        <p:blipFill>
          <a:blip r:embed="rId5"/>
          <a:stretch>
            <a:fillRect/>
          </a:stretch>
        </p:blipFill>
        <p:spPr>
          <a:xfrm>
            <a:off x="5709514" y="3743554"/>
            <a:ext cx="285293" cy="285293"/>
          </a:xfrm>
          <a:prstGeom prst="rect">
            <a:avLst/>
          </a:prstGeom>
        </p:spPr>
      </p:pic>
      <p:sp>
        <p:nvSpPr>
          <p:cNvPr id="20" name="Community title"/>
          <p:cNvSpPr txBox="1"/>
          <p:nvPr/>
        </p:nvSpPr>
        <p:spPr>
          <a:xfrm>
            <a:off x="6309360" y="3566160"/>
            <a:ext cx="2377440" cy="274320"/>
          </a:xfrm>
          <a:prstGeom prst="rect">
            <a:avLst/>
          </a:prstGeom>
          <a:noFill/>
          <a:ln/>
        </p:spPr>
        <p:txBody>
          <a:bodyPr wrap="square" lIns="0" tIns="0" rIns="0" bIns="0" rtlCol="0" anchor="t"/>
          <a:lstStyle/>
          <a:p>
            <a:pPr marL="0" indent="0">
              <a:buNone/>
            </a:pPr>
            <a:r>
              <a:rPr lang="en-US" sz="1600" b="1" dirty="0">
                <a:solidFill>
                  <a:schemeClr val="tx2"/>
                </a:solidFill>
              </a:rPr>
              <a:t>Community</a:t>
            </a:r>
            <a:endParaRPr lang="en-US" sz="1600" dirty="0"/>
          </a:p>
        </p:txBody>
      </p:sp>
      <p:sp>
        <p:nvSpPr>
          <p:cNvPr id="21" name="Community text"/>
          <p:cNvSpPr txBox="1"/>
          <p:nvPr/>
        </p:nvSpPr>
        <p:spPr>
          <a:xfrm>
            <a:off x="6309360" y="3858768"/>
            <a:ext cx="2377440" cy="548640"/>
          </a:xfrm>
          <a:prstGeom prst="rect">
            <a:avLst/>
          </a:prstGeom>
          <a:noFill/>
          <a:ln/>
        </p:spPr>
        <p:txBody>
          <a:bodyPr wrap="square" lIns="0" tIns="0" rIns="0" bIns="0" rtlCol="0" anchor="t"/>
          <a:lstStyle/>
          <a:p>
            <a:pPr marL="0" indent="0">
              <a:buNone/>
            </a:pPr>
            <a:r>
              <a:rPr lang="en-US" sz="1400" dirty="0">
                <a:solidFill>
                  <a:schemeClr val="tx1"/>
                </a:solidFill>
              </a:rPr>
              <a:t>Group buying unlocks bulk offers.</a:t>
            </a:r>
            <a:endParaRPr lang="en-US" sz="1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1"/>
                </a:solidFill>
              </a:defRPr>
            </a:lvl1pPr>
          </a:lstStyle>
          <a:p>
            <a:pPr algn="l"/>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400" b="1" dirty="0">
                <a:solidFill>
                  <a:schemeClr val="bg1"/>
                </a:solidFill>
              </a:rPr>
              <a:t>Future Vision</a:t>
            </a:r>
            <a:endParaRPr lang="en-US" sz="3400" dirty="0"/>
          </a:p>
        </p:txBody>
      </p:sp>
      <p:sp>
        <p:nvSpPr>
          <p:cNvPr id="3" name="Achieved card"/>
          <p:cNvSpPr/>
          <p:nvPr/>
        </p:nvSpPr>
        <p:spPr>
          <a:xfrm>
            <a:off x="457200" y="1188720"/>
            <a:ext cx="2606040" cy="2423160"/>
          </a:xfrm>
          <a:prstGeom prst="roundRect">
            <a:avLst>
              <a:gd name="adj" fmla="val 4528"/>
            </a:avLst>
          </a:prstGeom>
          <a:solidFill>
            <a:schemeClr val="bg1">
              <a:alpha val="12000"/>
            </a:schemeClr>
          </a:solidFill>
          <a:ln w="12700">
            <a:solidFill>
              <a:schemeClr val="bg1">
                <a:alpha val="12000"/>
              </a:schemeClr>
            </a:solidFill>
            <a:prstDash val="solid"/>
          </a:ln>
        </p:spPr>
      </p:sp>
      <p:sp>
        <p:nvSpPr>
          <p:cNvPr id="4" name="Achieved title"/>
          <p:cNvSpPr txBox="1"/>
          <p:nvPr/>
        </p:nvSpPr>
        <p:spPr>
          <a:xfrm>
            <a:off x="640080" y="1325880"/>
            <a:ext cx="2240280" cy="365760"/>
          </a:xfrm>
          <a:prstGeom prst="rect">
            <a:avLst/>
          </a:prstGeom>
          <a:noFill/>
          <a:ln/>
        </p:spPr>
        <p:txBody>
          <a:bodyPr wrap="square" lIns="0" tIns="0" rIns="0" bIns="0" rtlCol="0" anchor="t"/>
          <a:lstStyle/>
          <a:p>
            <a:pPr marL="0" indent="0">
              <a:buNone/>
            </a:pPr>
            <a:r>
              <a:rPr lang="en-US" sz="1800" b="1" dirty="0">
                <a:solidFill>
                  <a:schemeClr val="accent2"/>
                </a:solidFill>
              </a:rPr>
              <a:t>Achieved</a:t>
            </a:r>
            <a:endParaRPr lang="en-US" sz="1800" dirty="0"/>
          </a:p>
        </p:txBody>
      </p:sp>
      <p:sp>
        <p:nvSpPr>
          <p:cNvPr id="5" name="Achieved list"/>
          <p:cNvSpPr txBox="1"/>
          <p:nvPr/>
        </p:nvSpPr>
        <p:spPr>
          <a:xfrm>
            <a:off x="640080" y="1783080"/>
            <a:ext cx="2286000" cy="17373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bg1"/>
                </a:solidFill>
              </a:rPr>
              <a:t>Multi-page app, 3 user roles</a:t>
            </a:r>
            <a:endParaRPr lang="en-US" sz="1400" dirty="0"/>
          </a:p>
          <a:p>
            <a:pPr marL="342900" indent="-342900">
              <a:spcAft>
                <a:spcPts val="600"/>
              </a:spcAft>
              <a:buSzPct val="100000"/>
              <a:buChar char="•"/>
            </a:pPr>
            <a:r>
              <a:rPr lang="en-US" sz="1400" dirty="0">
                <a:solidFill>
                  <a:schemeClr val="bg1"/>
                </a:solidFill>
              </a:rPr>
              <a:t>Telugu and English UI</a:t>
            </a:r>
            <a:endParaRPr lang="en-US" sz="1400" dirty="0"/>
          </a:p>
          <a:p>
            <a:pPr marL="342900" indent="-342900">
              <a:spcAft>
                <a:spcPts val="600"/>
              </a:spcAft>
              <a:buSzPct val="100000"/>
              <a:buChar char="•"/>
            </a:pPr>
            <a:r>
              <a:rPr lang="en-US" sz="1400" dirty="0">
                <a:solidFill>
                  <a:schemeClr val="bg1"/>
                </a:solidFill>
              </a:rPr>
              <a:t>Photo and voice listing</a:t>
            </a:r>
            <a:endParaRPr lang="en-US" sz="1400" dirty="0"/>
          </a:p>
          <a:p>
            <a:pPr marL="342900" indent="-342900">
              <a:spcAft>
                <a:spcPts val="600"/>
              </a:spcAft>
              <a:buSzPct val="100000"/>
              <a:buChar char="•"/>
            </a:pPr>
            <a:r>
              <a:rPr lang="en-US" sz="1400" dirty="0">
                <a:solidFill>
                  <a:schemeClr val="bg1"/>
                </a:solidFill>
              </a:rPr>
              <a:t>Multi-farmer price compare</a:t>
            </a:r>
            <a:endParaRPr lang="en-US" sz="1400" dirty="0"/>
          </a:p>
        </p:txBody>
      </p:sp>
      <p:sp>
        <p:nvSpPr>
          <p:cNvPr id="6" name="Next card"/>
          <p:cNvSpPr/>
          <p:nvPr/>
        </p:nvSpPr>
        <p:spPr>
          <a:xfrm>
            <a:off x="3268980" y="1188720"/>
            <a:ext cx="2606040" cy="2423160"/>
          </a:xfrm>
          <a:prstGeom prst="roundRect">
            <a:avLst>
              <a:gd name="adj" fmla="val 4528"/>
            </a:avLst>
          </a:prstGeom>
          <a:solidFill>
            <a:schemeClr val="bg1">
              <a:alpha val="12000"/>
            </a:schemeClr>
          </a:solidFill>
          <a:ln w="12700">
            <a:solidFill>
              <a:schemeClr val="bg1">
                <a:alpha val="12000"/>
              </a:schemeClr>
            </a:solidFill>
            <a:prstDash val="solid"/>
          </a:ln>
        </p:spPr>
      </p:sp>
      <p:sp>
        <p:nvSpPr>
          <p:cNvPr id="7" name="Next title"/>
          <p:cNvSpPr txBox="1"/>
          <p:nvPr/>
        </p:nvSpPr>
        <p:spPr>
          <a:xfrm>
            <a:off x="3451860" y="1325880"/>
            <a:ext cx="2240280" cy="365760"/>
          </a:xfrm>
          <a:prstGeom prst="rect">
            <a:avLst/>
          </a:prstGeom>
          <a:noFill/>
          <a:ln/>
        </p:spPr>
        <p:txBody>
          <a:bodyPr wrap="square" lIns="0" tIns="0" rIns="0" bIns="0" rtlCol="0" anchor="t"/>
          <a:lstStyle/>
          <a:p>
            <a:pPr marL="0" indent="0">
              <a:buNone/>
            </a:pPr>
            <a:r>
              <a:rPr lang="en-US" sz="1800" b="1" dirty="0">
                <a:solidFill>
                  <a:schemeClr val="accent2"/>
                </a:solidFill>
              </a:rPr>
              <a:t>Next</a:t>
            </a:r>
            <a:endParaRPr lang="en-US" sz="1800" dirty="0"/>
          </a:p>
        </p:txBody>
      </p:sp>
      <p:sp>
        <p:nvSpPr>
          <p:cNvPr id="8" name="Next list"/>
          <p:cNvSpPr txBox="1"/>
          <p:nvPr/>
        </p:nvSpPr>
        <p:spPr>
          <a:xfrm>
            <a:off x="3451860" y="1783080"/>
            <a:ext cx="2286000" cy="17373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bg1"/>
                </a:solidFill>
              </a:rPr>
              <a:t>Real delivery tracking</a:t>
            </a:r>
            <a:endParaRPr lang="en-US" sz="1400" dirty="0"/>
          </a:p>
          <a:p>
            <a:pPr marL="342900" indent="-342900">
              <a:spcAft>
                <a:spcPts val="600"/>
              </a:spcAft>
              <a:buSzPct val="100000"/>
              <a:buChar char="•"/>
            </a:pPr>
            <a:r>
              <a:rPr lang="en-US" sz="1400" dirty="0">
                <a:solidFill>
                  <a:schemeClr val="bg1"/>
                </a:solidFill>
              </a:rPr>
              <a:t>More Indian languages</a:t>
            </a:r>
            <a:endParaRPr lang="en-US" sz="1400" dirty="0"/>
          </a:p>
          <a:p>
            <a:pPr marL="342900" indent="-342900">
              <a:spcAft>
                <a:spcPts val="600"/>
              </a:spcAft>
              <a:buSzPct val="100000"/>
              <a:buChar char="•"/>
            </a:pPr>
            <a:r>
              <a:rPr lang="en-US" sz="1400" dirty="0">
                <a:solidFill>
                  <a:schemeClr val="bg1"/>
                </a:solidFill>
              </a:rPr>
              <a:t>Offline-ready PWA</a:t>
            </a:r>
            <a:endParaRPr lang="en-US" sz="1400" dirty="0"/>
          </a:p>
          <a:p>
            <a:pPr marL="342900" indent="-342900">
              <a:spcAft>
                <a:spcPts val="600"/>
              </a:spcAft>
              <a:buSzPct val="100000"/>
              <a:buChar char="•"/>
            </a:pPr>
            <a:r>
              <a:rPr lang="en-US" sz="1400" dirty="0">
                <a:solidFill>
                  <a:schemeClr val="bg1"/>
                </a:solidFill>
              </a:rPr>
              <a:t>Live market price data</a:t>
            </a:r>
            <a:endParaRPr lang="en-US" sz="1400" dirty="0"/>
          </a:p>
        </p:txBody>
      </p:sp>
      <p:sp>
        <p:nvSpPr>
          <p:cNvPr id="9" name="Scalability card"/>
          <p:cNvSpPr/>
          <p:nvPr/>
        </p:nvSpPr>
        <p:spPr>
          <a:xfrm>
            <a:off x="6080760" y="1188720"/>
            <a:ext cx="2606040" cy="2423160"/>
          </a:xfrm>
          <a:prstGeom prst="roundRect">
            <a:avLst>
              <a:gd name="adj" fmla="val 4528"/>
            </a:avLst>
          </a:prstGeom>
          <a:solidFill>
            <a:schemeClr val="bg1">
              <a:alpha val="12000"/>
            </a:schemeClr>
          </a:solidFill>
          <a:ln w="12700">
            <a:solidFill>
              <a:schemeClr val="bg1">
                <a:alpha val="12000"/>
              </a:schemeClr>
            </a:solidFill>
            <a:prstDash val="solid"/>
          </a:ln>
        </p:spPr>
      </p:sp>
      <p:sp>
        <p:nvSpPr>
          <p:cNvPr id="10" name="Scalability title"/>
          <p:cNvSpPr txBox="1"/>
          <p:nvPr/>
        </p:nvSpPr>
        <p:spPr>
          <a:xfrm>
            <a:off x="6263640" y="1325880"/>
            <a:ext cx="2240280" cy="365760"/>
          </a:xfrm>
          <a:prstGeom prst="rect">
            <a:avLst/>
          </a:prstGeom>
          <a:noFill/>
          <a:ln/>
        </p:spPr>
        <p:txBody>
          <a:bodyPr wrap="square" lIns="0" tIns="0" rIns="0" bIns="0" rtlCol="0" anchor="t"/>
          <a:lstStyle/>
          <a:p>
            <a:pPr marL="0" indent="0">
              <a:buNone/>
            </a:pPr>
            <a:r>
              <a:rPr lang="en-US" sz="1800" b="1" dirty="0">
                <a:solidFill>
                  <a:schemeClr val="accent2"/>
                </a:solidFill>
              </a:rPr>
              <a:t>Scalability</a:t>
            </a:r>
            <a:endParaRPr lang="en-US" sz="1800" dirty="0"/>
          </a:p>
        </p:txBody>
      </p:sp>
      <p:sp>
        <p:nvSpPr>
          <p:cNvPr id="11" name="Scalability list"/>
          <p:cNvSpPr txBox="1"/>
          <p:nvPr/>
        </p:nvSpPr>
        <p:spPr>
          <a:xfrm>
            <a:off x="6263640" y="1783080"/>
            <a:ext cx="2286000" cy="17373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bg1"/>
                </a:solidFill>
              </a:rPr>
              <a:t>Stateless API scales out</a:t>
            </a:r>
            <a:endParaRPr lang="en-US" sz="1400" dirty="0"/>
          </a:p>
          <a:p>
            <a:pPr marL="342900" indent="-342900">
              <a:spcAft>
                <a:spcPts val="600"/>
              </a:spcAft>
              <a:buSzPct val="100000"/>
              <a:buChar char="•"/>
            </a:pPr>
            <a:r>
              <a:rPr lang="en-US" sz="1400" dirty="0">
                <a:solidFill>
                  <a:schemeClr val="bg1"/>
                </a:solidFill>
              </a:rPr>
              <a:t>Managed MongoDB, indexed</a:t>
            </a:r>
            <a:endParaRPr lang="en-US" sz="1400" dirty="0"/>
          </a:p>
          <a:p>
            <a:pPr marL="342900" indent="-342900">
              <a:spcAft>
                <a:spcPts val="600"/>
              </a:spcAft>
              <a:buSzPct val="100000"/>
              <a:buChar char="•"/>
            </a:pPr>
            <a:r>
              <a:rPr lang="en-US" sz="1400" dirty="0">
                <a:solidFill>
                  <a:schemeClr val="bg1"/>
                </a:solidFill>
              </a:rPr>
              <a:t>CDN for images</a:t>
            </a:r>
            <a:endParaRPr lang="en-US" sz="1400" dirty="0"/>
          </a:p>
        </p:txBody>
      </p:sp>
      <p:sp>
        <p:nvSpPr>
          <p:cNvPr id="12" name="Takeaway"/>
          <p:cNvSpPr txBox="1"/>
          <p:nvPr/>
        </p:nvSpPr>
        <p:spPr>
          <a:xfrm>
            <a:off x="457200" y="3840480"/>
            <a:ext cx="7772400" cy="411480"/>
          </a:xfrm>
          <a:prstGeom prst="rect">
            <a:avLst/>
          </a:prstGeom>
          <a:noFill/>
          <a:ln/>
        </p:spPr>
        <p:txBody>
          <a:bodyPr wrap="square" lIns="0" tIns="0" rIns="0" bIns="0" rtlCol="0" anchor="t"/>
          <a:lstStyle/>
          <a:p>
            <a:pPr marL="0" indent="0">
              <a:buNone/>
            </a:pPr>
            <a:r>
              <a:rPr lang="en-US" sz="2000" i="1" dirty="0">
                <a:solidFill>
                  <a:schemeClr val="bg1"/>
                </a:solidFill>
                <a:latin typeface="Cambria" pitchFamily="34" charset="0"/>
                <a:ea typeface="Cambria" pitchFamily="34" charset="-122"/>
                <a:cs typeface="Cambria" pitchFamily="34" charset="-120"/>
              </a:rPr>
              <a:t>FarmConnect: technology that speaks the farmer's language.</a:t>
            </a:r>
            <a:endParaRPr lang="en-US" sz="20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bg1"/>
                </a:solidFill>
              </a:defRPr>
            </a:lvl1pPr>
          </a:lstStyle>
          <a:p>
            <a:pPr algn="l"/>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CC331E3D-0AB7-159C-8A59-D5A662A1B04D}"/>
              </a:ext>
            </a:extLst>
          </p:cNvPr>
          <p:cNvPicPr>
            <a:picLocks noChangeAspect="1"/>
          </p:cNvPicPr>
          <p:nvPr/>
        </p:nvPicPr>
        <p:blipFill>
          <a:blip r:embed="rId2"/>
          <a:stretch>
            <a:fillRect/>
          </a:stretch>
        </p:blipFill>
        <p:spPr>
          <a:xfrm>
            <a:off x="10550" y="-33985"/>
            <a:ext cx="5131192" cy="2519266"/>
          </a:xfrm>
          <a:prstGeom prst="rect">
            <a:avLst/>
          </a:prstGeom>
        </p:spPr>
      </p:pic>
      <p:pic>
        <p:nvPicPr>
          <p:cNvPr id="9" name="Picture 8">
            <a:extLst>
              <a:ext uri="{FF2B5EF4-FFF2-40B4-BE49-F238E27FC236}">
                <a16:creationId xmlns:a16="http://schemas.microsoft.com/office/drawing/2014/main" id="{3F6F5E4B-6E7B-DA7F-F8EA-6FE69E99ADE8}"/>
              </a:ext>
            </a:extLst>
          </p:cNvPr>
          <p:cNvPicPr>
            <a:picLocks noChangeAspect="1"/>
          </p:cNvPicPr>
          <p:nvPr/>
        </p:nvPicPr>
        <p:blipFill>
          <a:blip r:embed="rId3"/>
          <a:stretch>
            <a:fillRect/>
          </a:stretch>
        </p:blipFill>
        <p:spPr>
          <a:xfrm>
            <a:off x="5141742" y="1"/>
            <a:ext cx="3991708" cy="2485280"/>
          </a:xfrm>
          <a:prstGeom prst="rect">
            <a:avLst/>
          </a:prstGeom>
        </p:spPr>
      </p:pic>
      <p:pic>
        <p:nvPicPr>
          <p:cNvPr id="11" name="Picture 10">
            <a:extLst>
              <a:ext uri="{FF2B5EF4-FFF2-40B4-BE49-F238E27FC236}">
                <a16:creationId xmlns:a16="http://schemas.microsoft.com/office/drawing/2014/main" id="{4F37126E-45E7-B1CD-314B-543D13FB7201}"/>
              </a:ext>
            </a:extLst>
          </p:cNvPr>
          <p:cNvPicPr>
            <a:picLocks noChangeAspect="1"/>
          </p:cNvPicPr>
          <p:nvPr/>
        </p:nvPicPr>
        <p:blipFill>
          <a:blip r:embed="rId4"/>
          <a:stretch>
            <a:fillRect/>
          </a:stretch>
        </p:blipFill>
        <p:spPr>
          <a:xfrm>
            <a:off x="0" y="2485281"/>
            <a:ext cx="5131192" cy="2658218"/>
          </a:xfrm>
          <a:prstGeom prst="rect">
            <a:avLst/>
          </a:prstGeom>
        </p:spPr>
      </p:pic>
      <p:pic>
        <p:nvPicPr>
          <p:cNvPr id="13" name="Picture 12">
            <a:extLst>
              <a:ext uri="{FF2B5EF4-FFF2-40B4-BE49-F238E27FC236}">
                <a16:creationId xmlns:a16="http://schemas.microsoft.com/office/drawing/2014/main" id="{5FB401F9-D77B-9F50-1B7D-7A301B7AA1FC}"/>
              </a:ext>
            </a:extLst>
          </p:cNvPr>
          <p:cNvPicPr>
            <a:picLocks noChangeAspect="1"/>
          </p:cNvPicPr>
          <p:nvPr/>
        </p:nvPicPr>
        <p:blipFill>
          <a:blip r:embed="rId5"/>
          <a:stretch>
            <a:fillRect/>
          </a:stretch>
        </p:blipFill>
        <p:spPr>
          <a:xfrm>
            <a:off x="5141742" y="2468927"/>
            <a:ext cx="4002259" cy="2658218"/>
          </a:xfrm>
          <a:prstGeom prst="rect">
            <a:avLst/>
          </a:prstGeom>
        </p:spPr>
      </p:pic>
    </p:spTree>
    <p:extLst>
      <p:ext uri="{BB962C8B-B14F-4D97-AF65-F5344CB8AC3E}">
        <p14:creationId xmlns:p14="http://schemas.microsoft.com/office/powerpoint/2010/main" val="23251026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14281A5-5F9A-A3BF-1A41-00527F9E37BB}"/>
              </a:ext>
            </a:extLst>
          </p:cNvPr>
          <p:cNvPicPr>
            <a:picLocks noChangeAspect="1"/>
          </p:cNvPicPr>
          <p:nvPr/>
        </p:nvPicPr>
        <p:blipFill>
          <a:blip r:embed="rId2"/>
          <a:stretch>
            <a:fillRect/>
          </a:stretch>
        </p:blipFill>
        <p:spPr>
          <a:xfrm>
            <a:off x="316524" y="4396"/>
            <a:ext cx="3812344" cy="5139104"/>
          </a:xfrm>
          <a:prstGeom prst="rect">
            <a:avLst/>
          </a:prstGeom>
        </p:spPr>
      </p:pic>
      <p:pic>
        <p:nvPicPr>
          <p:cNvPr id="6" name="Picture 5">
            <a:extLst>
              <a:ext uri="{FF2B5EF4-FFF2-40B4-BE49-F238E27FC236}">
                <a16:creationId xmlns:a16="http://schemas.microsoft.com/office/drawing/2014/main" id="{D8AF243A-7951-2D4F-97ED-BDFC310680CB}"/>
              </a:ext>
            </a:extLst>
          </p:cNvPr>
          <p:cNvPicPr>
            <a:picLocks noChangeAspect="1"/>
          </p:cNvPicPr>
          <p:nvPr/>
        </p:nvPicPr>
        <p:blipFill>
          <a:blip r:embed="rId3"/>
          <a:stretch>
            <a:fillRect/>
          </a:stretch>
        </p:blipFill>
        <p:spPr>
          <a:xfrm>
            <a:off x="4283612" y="11430"/>
            <a:ext cx="4368018" cy="5132070"/>
          </a:xfrm>
          <a:prstGeom prst="rect">
            <a:avLst/>
          </a:prstGeom>
        </p:spPr>
      </p:pic>
    </p:spTree>
    <p:extLst>
      <p:ext uri="{BB962C8B-B14F-4D97-AF65-F5344CB8AC3E}">
        <p14:creationId xmlns:p14="http://schemas.microsoft.com/office/powerpoint/2010/main" val="15012434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884BBFF-456E-59C3-E3A7-E8BC9387E6E1}"/>
              </a:ext>
            </a:extLst>
          </p:cNvPr>
          <p:cNvSpPr txBox="1"/>
          <p:nvPr/>
        </p:nvSpPr>
        <p:spPr>
          <a:xfrm>
            <a:off x="2384474" y="1749624"/>
            <a:ext cx="4572000" cy="1015663"/>
          </a:xfrm>
          <a:prstGeom prst="rect">
            <a:avLst/>
          </a:prstGeom>
          <a:noFill/>
        </p:spPr>
        <p:txBody>
          <a:bodyPr wrap="square">
            <a:spAutoFit/>
          </a:bodyPr>
          <a:lstStyle/>
          <a:p>
            <a:r>
              <a:rPr lang="en-US" sz="6000" b="1" dirty="0">
                <a:solidFill>
                  <a:schemeClr val="tx2"/>
                </a:solidFill>
              </a:rPr>
              <a:t>Thank you!</a:t>
            </a:r>
            <a:endParaRPr lang="en-IN" sz="6000" dirty="0"/>
          </a:p>
        </p:txBody>
      </p:sp>
    </p:spTree>
    <p:extLst>
      <p:ext uri="{BB962C8B-B14F-4D97-AF65-F5344CB8AC3E}">
        <p14:creationId xmlns:p14="http://schemas.microsoft.com/office/powerpoint/2010/main" val="1316622982"/>
      </p:ext>
    </p:extLst>
  </p:cSld>
  <p:clrMapOvr>
    <a:masterClrMapping/>
  </p:clrMapOvr>
</p:sld>
</file>

<file path=ppt/theme/theme1.xml><?xml version="1.0" encoding="utf-8"?>
<a:theme xmlns:a="http://schemas.openxmlformats.org/drawingml/2006/main" name="FarmConnect">
  <a:themeElements>
    <a:clrScheme name="FarmConnect">
      <a:dk1>
        <a:srgbClr val="1E2A22"/>
      </a:dk1>
      <a:lt1>
        <a:srgbClr val="FFFFFF"/>
      </a:lt1>
      <a:dk2>
        <a:srgbClr val="1F4D2B"/>
      </a:dk2>
      <a:lt2>
        <a:srgbClr val="EAF4E4"/>
      </a:lt2>
      <a:accent1>
        <a:srgbClr val="6BBF59"/>
      </a:accent1>
      <a:accent2>
        <a:srgbClr val="F2A93B"/>
      </a:accent2>
      <a:accent3>
        <a:srgbClr val="8B5E3C"/>
      </a:accent3>
      <a:accent4>
        <a:srgbClr val="2F7D4A"/>
      </a:accent4>
      <a:accent5>
        <a:srgbClr val="A8D5A0"/>
      </a:accent5>
      <a:accent6>
        <a:srgbClr val="C9E4C0"/>
      </a:accent6>
      <a:hlink>
        <a:srgbClr val="2F7D4A"/>
      </a:hlink>
      <a:folHlink>
        <a:srgbClr val="8B5E3C"/>
      </a:folHlink>
    </a:clrScheme>
    <a:fontScheme name="FarmConnec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35</TotalTime>
  <Words>901</Words>
  <Application>Microsoft Office PowerPoint</Application>
  <PresentationFormat>On-screen Show (16:9)</PresentationFormat>
  <Paragraphs>142</Paragraphs>
  <Slides>10</Slides>
  <Notes>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Arial</vt:lpstr>
      <vt:lpstr>Arial Rounded MT Bold</vt:lpstr>
      <vt:lpstr>Calibri</vt:lpstr>
      <vt:lpstr>Cambria</vt:lpstr>
      <vt:lpstr>Cambria heading</vt:lpstr>
      <vt:lpstr>FarmConnect</vt:lpstr>
      <vt:lpstr>PowerPoint Presentation</vt:lpstr>
      <vt:lpstr>The Challenge</vt:lpstr>
      <vt:lpstr>Our Innovation</vt:lpstr>
      <vt:lpstr>How It Works</vt:lpstr>
      <vt:lpstr>Technology &amp; Algorithm</vt:lpstr>
      <vt:lpstr>Demo &amp; Impact</vt:lpstr>
      <vt:lpstr>Future Vision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FarmConnect - Hackathon Presentation</dc:title>
  <dc:subject>PptxGenJS Presentation</dc:subject>
  <dc:creator>PptxGenJS</dc:creator>
  <cp:lastModifiedBy>CHEEPURU PRAVALIKA</cp:lastModifiedBy>
  <cp:revision>3</cp:revision>
  <dcterms:created xsi:type="dcterms:W3CDTF">2026-10-10T04:47:55Z</dcterms:created>
  <dcterms:modified xsi:type="dcterms:W3CDTF">2026-10-10T09:04:50Z</dcterms:modified>
</cp:coreProperties>
</file>